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obby Jones" charset="1" panose="00000000000000000000"/>
      <p:regular r:id="rId17"/>
    </p:embeddedFont>
    <p:embeddedFont>
      <p:font typeface="Canva Sans" charset="1" panose="020B0503030501040103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11" Target="../media/image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18" Target="../media/image7.png" Type="http://schemas.openxmlformats.org/officeDocument/2006/relationships/image"/><Relationship Id="rId19" Target="../media/image8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18" Target="../media/image7.png" Type="http://schemas.openxmlformats.org/officeDocument/2006/relationships/image"/><Relationship Id="rId19" Target="../media/image8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svg" Type="http://schemas.openxmlformats.org/officeDocument/2006/relationships/image"/><Relationship Id="rId11" Target="../media/image58.png" Type="http://schemas.openxmlformats.org/officeDocument/2006/relationships/image"/><Relationship Id="rId12" Target="../media/image59.svg" Type="http://schemas.openxmlformats.org/officeDocument/2006/relationships/image"/><Relationship Id="rId13" Target="../media/image60.png" Type="http://schemas.openxmlformats.org/officeDocument/2006/relationships/image"/><Relationship Id="rId14" Target="../media/image61.svg" Type="http://schemas.openxmlformats.org/officeDocument/2006/relationships/image"/><Relationship Id="rId15" Target="../media/image62.png" Type="http://schemas.openxmlformats.org/officeDocument/2006/relationships/image"/><Relationship Id="rId16" Target="../media/image63.svg" Type="http://schemas.openxmlformats.org/officeDocument/2006/relationships/image"/><Relationship Id="rId17" Target="../media/image13.png" Type="http://schemas.openxmlformats.org/officeDocument/2006/relationships/image"/><Relationship Id="rId18" Target="../media/image14.svg" Type="http://schemas.openxmlformats.org/officeDocument/2006/relationships/image"/><Relationship Id="rId19" Target="../media/image15.png" Type="http://schemas.openxmlformats.org/officeDocument/2006/relationships/image"/><Relationship Id="rId2" Target="../media/image53.png" Type="http://schemas.openxmlformats.org/officeDocument/2006/relationships/image"/><Relationship Id="rId20" Target="../media/image16.sv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69260" y="7251736"/>
            <a:ext cx="23188977" cy="3086100"/>
            <a:chOff x="0" y="0"/>
            <a:chExt cx="610738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7385" cy="812800"/>
            </a:xfrm>
            <a:custGeom>
              <a:avLst/>
              <a:gdLst/>
              <a:ahLst/>
              <a:cxnLst/>
              <a:rect r="r" b="b" t="t" l="l"/>
              <a:pathLst>
                <a:path h="812800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0738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999874" y="9492857"/>
            <a:ext cx="23188977" cy="2123276"/>
            <a:chOff x="0" y="0"/>
            <a:chExt cx="6107385" cy="5592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07385" cy="559217"/>
            </a:xfrm>
            <a:custGeom>
              <a:avLst/>
              <a:gdLst/>
              <a:ahLst/>
              <a:cxnLst/>
              <a:rect r="r" b="b" t="t" l="l"/>
              <a:pathLst>
                <a:path h="559217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559217"/>
                  </a:lnTo>
                  <a:lnTo>
                    <a:pt x="0" y="559217"/>
                  </a:lnTo>
                  <a:close/>
                </a:path>
              </a:pathLst>
            </a:custGeom>
            <a:solidFill>
              <a:srgbClr val="44B7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107385" cy="59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54736" y="235635"/>
            <a:ext cx="5525519" cy="2370950"/>
          </a:xfrm>
          <a:custGeom>
            <a:avLst/>
            <a:gdLst/>
            <a:ahLst/>
            <a:cxnLst/>
            <a:rect r="r" b="b" t="t" l="l"/>
            <a:pathLst>
              <a:path h="2370950" w="5525519">
                <a:moveTo>
                  <a:pt x="0" y="0"/>
                </a:moveTo>
                <a:lnTo>
                  <a:pt x="5525519" y="0"/>
                </a:lnTo>
                <a:lnTo>
                  <a:pt x="5525519" y="2370950"/>
                </a:lnTo>
                <a:lnTo>
                  <a:pt x="0" y="2370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3910679" y="1613519"/>
            <a:ext cx="8974182" cy="5922960"/>
          </a:xfrm>
          <a:custGeom>
            <a:avLst/>
            <a:gdLst/>
            <a:ahLst/>
            <a:cxnLst/>
            <a:rect r="r" b="b" t="t" l="l"/>
            <a:pathLst>
              <a:path h="5922960" w="8974182">
                <a:moveTo>
                  <a:pt x="8974182" y="0"/>
                </a:moveTo>
                <a:lnTo>
                  <a:pt x="0" y="0"/>
                </a:lnTo>
                <a:lnTo>
                  <a:pt x="0" y="5922961"/>
                </a:lnTo>
                <a:lnTo>
                  <a:pt x="8974182" y="5922961"/>
                </a:lnTo>
                <a:lnTo>
                  <a:pt x="89741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470975"/>
            <a:ext cx="4513875" cy="1936863"/>
          </a:xfrm>
          <a:custGeom>
            <a:avLst/>
            <a:gdLst/>
            <a:ahLst/>
            <a:cxnLst/>
            <a:rect r="r" b="b" t="t" l="l"/>
            <a:pathLst>
              <a:path h="1936863" w="4513875">
                <a:moveTo>
                  <a:pt x="0" y="0"/>
                </a:moveTo>
                <a:lnTo>
                  <a:pt x="4513875" y="0"/>
                </a:lnTo>
                <a:lnTo>
                  <a:pt x="4513875" y="1936863"/>
                </a:lnTo>
                <a:lnTo>
                  <a:pt x="0" y="1936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525977" y="1133057"/>
            <a:ext cx="4754097" cy="6619629"/>
          </a:xfrm>
          <a:custGeom>
            <a:avLst/>
            <a:gdLst/>
            <a:ahLst/>
            <a:cxnLst/>
            <a:rect r="r" b="b" t="t" l="l"/>
            <a:pathLst>
              <a:path h="6619629" w="4754097">
                <a:moveTo>
                  <a:pt x="4754097" y="0"/>
                </a:moveTo>
                <a:lnTo>
                  <a:pt x="0" y="0"/>
                </a:lnTo>
                <a:lnTo>
                  <a:pt x="0" y="6619629"/>
                </a:lnTo>
                <a:lnTo>
                  <a:pt x="4754097" y="6619629"/>
                </a:lnTo>
                <a:lnTo>
                  <a:pt x="475409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-3346341" y="7361221"/>
            <a:ext cx="7315200" cy="3378292"/>
          </a:xfrm>
          <a:custGeom>
            <a:avLst/>
            <a:gdLst/>
            <a:ahLst/>
            <a:cxnLst/>
            <a:rect r="r" b="b" t="t" l="l"/>
            <a:pathLst>
              <a:path h="3378292" w="7315200">
                <a:moveTo>
                  <a:pt x="7315200" y="0"/>
                </a:moveTo>
                <a:lnTo>
                  <a:pt x="0" y="0"/>
                </a:lnTo>
                <a:lnTo>
                  <a:pt x="0" y="3378292"/>
                </a:lnTo>
                <a:lnTo>
                  <a:pt x="7315200" y="337829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768462" y="6718227"/>
            <a:ext cx="2543391" cy="3780716"/>
          </a:xfrm>
          <a:custGeom>
            <a:avLst/>
            <a:gdLst/>
            <a:ahLst/>
            <a:cxnLst/>
            <a:rect r="r" b="b" t="t" l="l"/>
            <a:pathLst>
              <a:path h="3780716" w="2543391">
                <a:moveTo>
                  <a:pt x="0" y="0"/>
                </a:moveTo>
                <a:lnTo>
                  <a:pt x="2543390" y="0"/>
                </a:lnTo>
                <a:lnTo>
                  <a:pt x="2543390" y="3780716"/>
                </a:lnTo>
                <a:lnTo>
                  <a:pt x="0" y="3780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759985" y="-871571"/>
            <a:ext cx="3360608" cy="1900271"/>
          </a:xfrm>
          <a:custGeom>
            <a:avLst/>
            <a:gdLst/>
            <a:ahLst/>
            <a:cxnLst/>
            <a:rect r="r" b="b" t="t" l="l"/>
            <a:pathLst>
              <a:path h="1900271" w="3360608">
                <a:moveTo>
                  <a:pt x="0" y="0"/>
                </a:moveTo>
                <a:lnTo>
                  <a:pt x="3360607" y="0"/>
                </a:lnTo>
                <a:lnTo>
                  <a:pt x="3360607" y="1900271"/>
                </a:lnTo>
                <a:lnTo>
                  <a:pt x="0" y="19002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6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173839" y="3739784"/>
            <a:ext cx="7791121" cy="1670431"/>
            <a:chOff x="0" y="0"/>
            <a:chExt cx="2051982" cy="4399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1983" cy="439949"/>
            </a:xfrm>
            <a:custGeom>
              <a:avLst/>
              <a:gdLst/>
              <a:ahLst/>
              <a:cxnLst/>
              <a:rect r="r" b="b" t="t" l="l"/>
              <a:pathLst>
                <a:path h="439949" w="2051983">
                  <a:moveTo>
                    <a:pt x="2051983" y="0"/>
                  </a:moveTo>
                  <a:lnTo>
                    <a:pt x="0" y="0"/>
                  </a:lnTo>
                  <a:lnTo>
                    <a:pt x="101600" y="219974"/>
                  </a:lnTo>
                  <a:lnTo>
                    <a:pt x="0" y="439949"/>
                  </a:lnTo>
                  <a:lnTo>
                    <a:pt x="2051983" y="439949"/>
                  </a:lnTo>
                  <a:lnTo>
                    <a:pt x="1950383" y="219974"/>
                  </a:lnTo>
                  <a:lnTo>
                    <a:pt x="2051983" y="0"/>
                  </a:lnTo>
                  <a:close/>
                </a:path>
              </a:pathLst>
            </a:custGeom>
            <a:solidFill>
              <a:srgbClr val="44B7A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88900" y="-38100"/>
              <a:ext cx="1874182" cy="478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1374234" y="5908602"/>
            <a:ext cx="6913766" cy="3255755"/>
          </a:xfrm>
          <a:custGeom>
            <a:avLst/>
            <a:gdLst/>
            <a:ahLst/>
            <a:cxnLst/>
            <a:rect r="r" b="b" t="t" l="l"/>
            <a:pathLst>
              <a:path h="3255755" w="6913766">
                <a:moveTo>
                  <a:pt x="0" y="0"/>
                </a:moveTo>
                <a:lnTo>
                  <a:pt x="6913766" y="0"/>
                </a:lnTo>
                <a:lnTo>
                  <a:pt x="6913766" y="3255755"/>
                </a:lnTo>
                <a:lnTo>
                  <a:pt x="0" y="32557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6130621" y="8941692"/>
            <a:ext cx="3767594" cy="1739943"/>
          </a:xfrm>
          <a:custGeom>
            <a:avLst/>
            <a:gdLst/>
            <a:ahLst/>
            <a:cxnLst/>
            <a:rect r="r" b="b" t="t" l="l"/>
            <a:pathLst>
              <a:path h="1739943" w="3767594">
                <a:moveTo>
                  <a:pt x="3767593" y="0"/>
                </a:moveTo>
                <a:lnTo>
                  <a:pt x="0" y="0"/>
                </a:lnTo>
                <a:lnTo>
                  <a:pt x="0" y="1739944"/>
                </a:lnTo>
                <a:lnTo>
                  <a:pt x="3767593" y="1739944"/>
                </a:lnTo>
                <a:lnTo>
                  <a:pt x="376759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374234" y="8303374"/>
            <a:ext cx="3235011" cy="1493987"/>
          </a:xfrm>
          <a:custGeom>
            <a:avLst/>
            <a:gdLst/>
            <a:ahLst/>
            <a:cxnLst/>
            <a:rect r="r" b="b" t="t" l="l"/>
            <a:pathLst>
              <a:path h="1493987" w="3235011">
                <a:moveTo>
                  <a:pt x="0" y="0"/>
                </a:moveTo>
                <a:lnTo>
                  <a:pt x="3235010" y="0"/>
                </a:lnTo>
                <a:lnTo>
                  <a:pt x="3235010" y="1493986"/>
                </a:lnTo>
                <a:lnTo>
                  <a:pt x="0" y="14939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917289" y="-1211260"/>
            <a:ext cx="3234765" cy="3182200"/>
          </a:xfrm>
          <a:custGeom>
            <a:avLst/>
            <a:gdLst/>
            <a:ahLst/>
            <a:cxnLst/>
            <a:rect r="r" b="b" t="t" l="l"/>
            <a:pathLst>
              <a:path h="3182200" w="3234765">
                <a:moveTo>
                  <a:pt x="0" y="0"/>
                </a:moveTo>
                <a:lnTo>
                  <a:pt x="3234764" y="0"/>
                </a:lnTo>
                <a:lnTo>
                  <a:pt x="3234764" y="3182200"/>
                </a:lnTo>
                <a:lnTo>
                  <a:pt x="0" y="31822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325229" y="6706941"/>
            <a:ext cx="1792236" cy="1832211"/>
          </a:xfrm>
          <a:custGeom>
            <a:avLst/>
            <a:gdLst/>
            <a:ahLst/>
            <a:cxnLst/>
            <a:rect r="r" b="b" t="t" l="l"/>
            <a:pathLst>
              <a:path h="1832211" w="1792236">
                <a:moveTo>
                  <a:pt x="0" y="0"/>
                </a:moveTo>
                <a:lnTo>
                  <a:pt x="1792235" y="0"/>
                </a:lnTo>
                <a:lnTo>
                  <a:pt x="1792235" y="1832211"/>
                </a:lnTo>
                <a:lnTo>
                  <a:pt x="0" y="183221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3709599" y="3143761"/>
            <a:ext cx="518521" cy="5185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844957" y="549615"/>
            <a:ext cx="14598087" cy="3099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9"/>
              </a:lnSpc>
            </a:pPr>
            <a:r>
              <a:rPr lang="en-US" sz="7889" spc="788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praktikum </a:t>
            </a:r>
          </a:p>
          <a:p>
            <a:pPr algn="ctr">
              <a:lnSpc>
                <a:spcPts val="7889"/>
              </a:lnSpc>
            </a:pPr>
            <a:r>
              <a:rPr lang="en-US" sz="7889" spc="788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sistem embedded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511000" y="4075608"/>
            <a:ext cx="367263" cy="367263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910679" y="2784181"/>
            <a:ext cx="367263" cy="367263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753329" y="1233005"/>
            <a:ext cx="367263" cy="367263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803663" y="3881897"/>
            <a:ext cx="6531473" cy="1414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9"/>
              </a:lnSpc>
            </a:pPr>
            <a:r>
              <a:rPr lang="en-US" sz="3399" spc="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HIDAYAH AFITA SARI</a:t>
            </a:r>
          </a:p>
          <a:p>
            <a:pPr algn="ctr">
              <a:lnSpc>
                <a:spcPts val="3739"/>
              </a:lnSpc>
            </a:pPr>
            <a:r>
              <a:rPr lang="en-US" sz="3399" spc="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40040324620015</a:t>
            </a:r>
          </a:p>
          <a:p>
            <a:pPr algn="ctr">
              <a:lnSpc>
                <a:spcPts val="3739"/>
              </a:lnSpc>
            </a:pPr>
            <a:r>
              <a:rPr lang="en-US" sz="3399" spc="9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PRAKTIKUM 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596824" y="1914593"/>
            <a:ext cx="12368509" cy="2512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3"/>
              </a:lnSpc>
            </a:pPr>
            <a:r>
              <a:rPr lang="en-US" sz="7743" spc="774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 Komunikasi Serial UART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180" y="161580"/>
            <a:ext cx="4513875" cy="1936863"/>
          </a:xfrm>
          <a:custGeom>
            <a:avLst/>
            <a:gdLst/>
            <a:ahLst/>
            <a:cxnLst/>
            <a:rect r="r" b="b" t="t" l="l"/>
            <a:pathLst>
              <a:path h="1936863" w="4513875">
                <a:moveTo>
                  <a:pt x="0" y="0"/>
                </a:moveTo>
                <a:lnTo>
                  <a:pt x="4513875" y="0"/>
                </a:lnTo>
                <a:lnTo>
                  <a:pt x="4513875" y="1936863"/>
                </a:lnTo>
                <a:lnTo>
                  <a:pt x="0" y="1936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269260" y="4409025"/>
            <a:ext cx="23188977" cy="6118483"/>
            <a:chOff x="0" y="0"/>
            <a:chExt cx="6107385" cy="16114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7385" cy="1611452"/>
            </a:xfrm>
            <a:custGeom>
              <a:avLst/>
              <a:gdLst/>
              <a:ahLst/>
              <a:cxnLst/>
              <a:rect r="r" b="b" t="t" l="l"/>
              <a:pathLst>
                <a:path h="1611452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1611452"/>
                  </a:lnTo>
                  <a:lnTo>
                    <a:pt x="0" y="1611452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107385" cy="1649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66201" y="9258300"/>
            <a:ext cx="23188977" cy="2123276"/>
            <a:chOff x="0" y="0"/>
            <a:chExt cx="6107385" cy="5592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07385" cy="559217"/>
            </a:xfrm>
            <a:custGeom>
              <a:avLst/>
              <a:gdLst/>
              <a:ahLst/>
              <a:cxnLst/>
              <a:rect r="r" b="b" t="t" l="l"/>
              <a:pathLst>
                <a:path h="559217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559217"/>
                  </a:lnTo>
                  <a:lnTo>
                    <a:pt x="0" y="559217"/>
                  </a:lnTo>
                  <a:close/>
                </a:path>
              </a:pathLst>
            </a:custGeom>
            <a:solidFill>
              <a:srgbClr val="44B7A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107385" cy="59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2508018"/>
            <a:ext cx="6202828" cy="6341181"/>
          </a:xfrm>
          <a:custGeom>
            <a:avLst/>
            <a:gdLst/>
            <a:ahLst/>
            <a:cxnLst/>
            <a:rect r="r" b="b" t="t" l="l"/>
            <a:pathLst>
              <a:path h="6341181" w="6202828">
                <a:moveTo>
                  <a:pt x="0" y="0"/>
                </a:moveTo>
                <a:lnTo>
                  <a:pt x="6202828" y="0"/>
                </a:lnTo>
                <a:lnTo>
                  <a:pt x="6202828" y="6341181"/>
                </a:lnTo>
                <a:lnTo>
                  <a:pt x="0" y="6341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52109" y="5520146"/>
            <a:ext cx="10031922" cy="1174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3099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Menggunakan dua jalur utama:</a:t>
            </a:r>
          </a:p>
          <a:p>
            <a:pPr algn="l" marL="669289" indent="-334645" lvl="1">
              <a:lnSpc>
                <a:spcPts val="3099"/>
              </a:lnSpc>
              <a:buFont typeface="Arial"/>
              <a:buChar char="•"/>
            </a:pPr>
            <a:r>
              <a:rPr lang="en-US" sz="3099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TX (Transmit)</a:t>
            </a:r>
          </a:p>
          <a:p>
            <a:pPr algn="l" marL="669289" indent="-334645" lvl="1">
              <a:lnSpc>
                <a:spcPts val="3099"/>
              </a:lnSpc>
              <a:buFont typeface="Arial"/>
              <a:buChar char="•"/>
            </a:pPr>
            <a:r>
              <a:rPr lang="en-US" sz="3099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RX (Receiver)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73796" y="6770461"/>
            <a:ext cx="10188549" cy="234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3099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Digunakan untuk komunikasi antar perangkat seperti:</a:t>
            </a:r>
          </a:p>
          <a:p>
            <a:pPr algn="l" marL="669289" indent="-334645" lvl="1">
              <a:lnSpc>
                <a:spcPts val="3099"/>
              </a:lnSpc>
              <a:buFont typeface="Arial"/>
              <a:buChar char="•"/>
            </a:pPr>
            <a:r>
              <a:rPr lang="en-US" sz="3099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mikrokontroler</a:t>
            </a:r>
          </a:p>
          <a:p>
            <a:pPr algn="l" marL="669289" indent="-334645" lvl="1">
              <a:lnSpc>
                <a:spcPts val="3099"/>
              </a:lnSpc>
              <a:buFont typeface="Arial"/>
              <a:buChar char="•"/>
            </a:pPr>
            <a:r>
              <a:rPr lang="en-US" sz="3099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sensor</a:t>
            </a:r>
          </a:p>
          <a:p>
            <a:pPr algn="l" marL="669289" indent="-334645" lvl="1">
              <a:lnSpc>
                <a:spcPts val="3099"/>
              </a:lnSpc>
              <a:buFont typeface="Arial"/>
              <a:buChar char="•"/>
            </a:pPr>
            <a:r>
              <a:rPr lang="en-US" sz="3099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modul komunikasi</a:t>
            </a:r>
          </a:p>
          <a:p>
            <a:pPr algn="l" marL="669289" indent="-334645" lvl="1">
              <a:lnSpc>
                <a:spcPts val="3099"/>
              </a:lnSpc>
              <a:buFont typeface="Arial"/>
              <a:buChar char="•"/>
            </a:pPr>
            <a:r>
              <a:rPr lang="en-US" sz="3099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komputer</a:t>
            </a:r>
          </a:p>
          <a:p>
            <a:pPr algn="l">
              <a:lnSpc>
                <a:spcPts val="30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573796" y="8803729"/>
            <a:ext cx="10188549" cy="78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3099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UART banyak digunakan karena implementasinya sederhana dan stabil.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19197" y="4776237"/>
            <a:ext cx="367263" cy="3672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24D6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019197" y="5494977"/>
            <a:ext cx="367263" cy="36726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24D6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019197" y="6694261"/>
            <a:ext cx="367263" cy="36726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24D6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971735" y="8695237"/>
            <a:ext cx="462187" cy="46218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24D6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73796" y="5168079"/>
            <a:ext cx="10110236" cy="4499866"/>
            <a:chOff x="0" y="0"/>
            <a:chExt cx="13480315" cy="5999821"/>
          </a:xfrm>
        </p:grpSpPr>
        <p:sp>
          <p:nvSpPr>
            <p:cNvPr name="AutoShape 26" id="26"/>
            <p:cNvSpPr/>
            <p:nvPr/>
          </p:nvSpPr>
          <p:spPr>
            <a:xfrm>
              <a:off x="0" y="25400"/>
              <a:ext cx="13480315" cy="0"/>
            </a:xfrm>
            <a:prstGeom prst="line">
              <a:avLst/>
            </a:prstGeom>
            <a:ln cap="flat" w="50800">
              <a:solidFill>
                <a:srgbClr val="9AE6DC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0" y="2032161"/>
              <a:ext cx="13480315" cy="0"/>
            </a:xfrm>
            <a:prstGeom prst="line">
              <a:avLst/>
            </a:prstGeom>
            <a:ln cap="flat" w="50800">
              <a:solidFill>
                <a:srgbClr val="9AE6DC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0" y="5974421"/>
              <a:ext cx="13480315" cy="0"/>
            </a:xfrm>
            <a:prstGeom prst="line">
              <a:avLst/>
            </a:prstGeom>
            <a:ln cap="flat" w="50800">
              <a:solidFill>
                <a:srgbClr val="9AE6DC"/>
              </a:solidFill>
              <a:prstDash val="sysDash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0" y="4709298"/>
              <a:ext cx="13480315" cy="0"/>
            </a:xfrm>
            <a:prstGeom prst="line">
              <a:avLst/>
            </a:prstGeom>
            <a:ln cap="flat" w="50800">
              <a:solidFill>
                <a:srgbClr val="9AE6DC"/>
              </a:solidFill>
              <a:prstDash val="sysDash"/>
              <a:headEnd type="none" len="sm" w="sm"/>
              <a:tailEnd type="none" len="sm" w="sm"/>
            </a:ln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2075364" y="835419"/>
            <a:ext cx="8107150" cy="3817730"/>
          </a:xfrm>
          <a:custGeom>
            <a:avLst/>
            <a:gdLst/>
            <a:ahLst/>
            <a:cxnLst/>
            <a:rect r="r" b="b" t="t" l="l"/>
            <a:pathLst>
              <a:path h="3817730" w="8107150">
                <a:moveTo>
                  <a:pt x="0" y="0"/>
                </a:moveTo>
                <a:lnTo>
                  <a:pt x="8107150" y="0"/>
                </a:lnTo>
                <a:lnTo>
                  <a:pt x="8107150" y="3817730"/>
                </a:lnTo>
                <a:lnTo>
                  <a:pt x="0" y="38177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305057" y="6637837"/>
            <a:ext cx="4877457" cy="4114800"/>
          </a:xfrm>
          <a:custGeom>
            <a:avLst/>
            <a:gdLst/>
            <a:ahLst/>
            <a:cxnLst/>
            <a:rect r="r" b="b" t="t" l="l"/>
            <a:pathLst>
              <a:path h="4114800" w="4877457">
                <a:moveTo>
                  <a:pt x="0" y="0"/>
                </a:moveTo>
                <a:lnTo>
                  <a:pt x="4877457" y="0"/>
                </a:lnTo>
                <a:lnTo>
                  <a:pt x="48774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652109" y="4789101"/>
            <a:ext cx="9644335" cy="39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3099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Komunikasi asynchronous (tanpa clock bersama)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9993" y="364727"/>
            <a:ext cx="11530336" cy="2329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9"/>
              </a:lnSpc>
            </a:pPr>
            <a:r>
              <a:rPr lang="en-US" sz="10329" spc="1032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Komunikasi UART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815209" y="-1199067"/>
            <a:ext cx="2915247" cy="2867875"/>
          </a:xfrm>
          <a:custGeom>
            <a:avLst/>
            <a:gdLst/>
            <a:ahLst/>
            <a:cxnLst/>
            <a:rect r="r" b="b" t="t" l="l"/>
            <a:pathLst>
              <a:path h="2867875" w="2915247">
                <a:moveTo>
                  <a:pt x="0" y="0"/>
                </a:moveTo>
                <a:lnTo>
                  <a:pt x="2915247" y="0"/>
                </a:lnTo>
                <a:lnTo>
                  <a:pt x="2915247" y="2867875"/>
                </a:lnTo>
                <a:lnTo>
                  <a:pt x="0" y="2867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0">
            <a:off x="-1286625" y="8022761"/>
            <a:ext cx="5350761" cy="2471079"/>
          </a:xfrm>
          <a:custGeom>
            <a:avLst/>
            <a:gdLst/>
            <a:ahLst/>
            <a:cxnLst/>
            <a:rect r="r" b="b" t="t" l="l"/>
            <a:pathLst>
              <a:path h="2471079" w="5350761">
                <a:moveTo>
                  <a:pt x="5350760" y="0"/>
                </a:moveTo>
                <a:lnTo>
                  <a:pt x="0" y="0"/>
                </a:lnTo>
                <a:lnTo>
                  <a:pt x="0" y="2471078"/>
                </a:lnTo>
                <a:lnTo>
                  <a:pt x="5350760" y="2471078"/>
                </a:lnTo>
                <a:lnTo>
                  <a:pt x="535076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4584224" y="2174643"/>
            <a:ext cx="7688608" cy="156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99"/>
              </a:lnSpc>
            </a:pPr>
            <a:r>
              <a:rPr lang="en-US" sz="3099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UART (Universal Asynchronous Receiver Transmitter) merupakan metode komunikasi serial yang umum digunakan pada sistem embedded.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70905" y="3920710"/>
            <a:ext cx="7688608" cy="39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3099" b="true">
                <a:solidFill>
                  <a:srgbClr val="024D6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Karakteristik utama UART: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6509" y="433372"/>
            <a:ext cx="4513875" cy="1936863"/>
          </a:xfrm>
          <a:custGeom>
            <a:avLst/>
            <a:gdLst/>
            <a:ahLst/>
            <a:cxnLst/>
            <a:rect r="r" b="b" t="t" l="l"/>
            <a:pathLst>
              <a:path h="1936863" w="4513875">
                <a:moveTo>
                  <a:pt x="0" y="0"/>
                </a:moveTo>
                <a:lnTo>
                  <a:pt x="4513875" y="0"/>
                </a:lnTo>
                <a:lnTo>
                  <a:pt x="4513875" y="1936863"/>
                </a:lnTo>
                <a:lnTo>
                  <a:pt x="0" y="1936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29556" y="371659"/>
            <a:ext cx="3062478" cy="1314082"/>
          </a:xfrm>
          <a:custGeom>
            <a:avLst/>
            <a:gdLst/>
            <a:ahLst/>
            <a:cxnLst/>
            <a:rect r="r" b="b" t="t" l="l"/>
            <a:pathLst>
              <a:path h="1314082" w="3062478">
                <a:moveTo>
                  <a:pt x="0" y="0"/>
                </a:moveTo>
                <a:lnTo>
                  <a:pt x="3062478" y="0"/>
                </a:lnTo>
                <a:lnTo>
                  <a:pt x="3062478" y="1314082"/>
                </a:lnTo>
                <a:lnTo>
                  <a:pt x="0" y="1314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450489" y="4905588"/>
            <a:ext cx="23188977" cy="6118483"/>
            <a:chOff x="0" y="0"/>
            <a:chExt cx="6107385" cy="16114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07385" cy="1611452"/>
            </a:xfrm>
            <a:custGeom>
              <a:avLst/>
              <a:gdLst/>
              <a:ahLst/>
              <a:cxnLst/>
              <a:rect r="r" b="b" t="t" l="l"/>
              <a:pathLst>
                <a:path h="1611452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1611452"/>
                  </a:lnTo>
                  <a:lnTo>
                    <a:pt x="0" y="1611452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107385" cy="1649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2003804" y="9678187"/>
            <a:ext cx="23188977" cy="2123276"/>
            <a:chOff x="0" y="0"/>
            <a:chExt cx="6107385" cy="5592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7385" cy="559217"/>
            </a:xfrm>
            <a:custGeom>
              <a:avLst/>
              <a:gdLst/>
              <a:ahLst/>
              <a:cxnLst/>
              <a:rect r="r" b="b" t="t" l="l"/>
              <a:pathLst>
                <a:path h="559217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559217"/>
                  </a:lnTo>
                  <a:lnTo>
                    <a:pt x="0" y="559217"/>
                  </a:lnTo>
                  <a:close/>
                </a:path>
              </a:pathLst>
            </a:custGeom>
            <a:solidFill>
              <a:srgbClr val="44B7A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107385" cy="59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693472" y="1763063"/>
            <a:ext cx="9366055" cy="4206210"/>
          </a:xfrm>
          <a:custGeom>
            <a:avLst/>
            <a:gdLst/>
            <a:ahLst/>
            <a:cxnLst/>
            <a:rect r="r" b="b" t="t" l="l"/>
            <a:pathLst>
              <a:path h="4206210" w="9366055">
                <a:moveTo>
                  <a:pt x="0" y="0"/>
                </a:moveTo>
                <a:lnTo>
                  <a:pt x="9366056" y="0"/>
                </a:lnTo>
                <a:lnTo>
                  <a:pt x="9366056" y="4206211"/>
                </a:lnTo>
                <a:lnTo>
                  <a:pt x="0" y="42062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07192" y="-571096"/>
            <a:ext cx="2042121" cy="2008936"/>
          </a:xfrm>
          <a:custGeom>
            <a:avLst/>
            <a:gdLst/>
            <a:ahLst/>
            <a:cxnLst/>
            <a:rect r="r" b="b" t="t" l="l"/>
            <a:pathLst>
              <a:path h="2008936" w="2042121">
                <a:moveTo>
                  <a:pt x="0" y="0"/>
                </a:moveTo>
                <a:lnTo>
                  <a:pt x="2042120" y="0"/>
                </a:lnTo>
                <a:lnTo>
                  <a:pt x="2042120" y="2008936"/>
                </a:lnTo>
                <a:lnTo>
                  <a:pt x="0" y="2008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22799" y="6114062"/>
            <a:ext cx="9888371" cy="342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Setiap data yang dikirim melalui UART memiliki struktur frame tertentu.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Urutan frame UART:</a:t>
            </a:r>
          </a:p>
          <a:p>
            <a:pPr algn="l" marL="410216" indent="-205108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Start Bit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Menandakan awal pengiriman data.</a:t>
            </a:r>
          </a:p>
          <a:p>
            <a:pPr algn="l" marL="410216" indent="-205108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Data Bits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 Berisi data utama (biasanya 7–9 bit, paling umum 8 bit).</a:t>
            </a:r>
          </a:p>
          <a:p>
            <a:pPr algn="l" marL="410216" indent="-205108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Parity Bit (opsional)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 Digunakan untuk pengecekan kesalahan data.</a:t>
            </a:r>
          </a:p>
          <a:p>
            <a:pPr algn="l" marL="410216" indent="-205108" lvl="1">
              <a:lnSpc>
                <a:spcPts val="2280"/>
              </a:lnSpc>
              <a:buAutoNum type="arabicPeriod" startAt="1"/>
            </a:pP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Stop Bit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Menandakan akhir pengiriman satu frame data.</a:t>
            </a:r>
          </a:p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Struktur ini memastikan data dapat diterima dengan benar oleh perangkat tujuan.</a:t>
            </a:r>
          </a:p>
          <a:p>
            <a:pPr algn="l">
              <a:lnSpc>
                <a:spcPts val="228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-788161">
            <a:off x="15834476" y="445319"/>
            <a:ext cx="2510835" cy="3577615"/>
          </a:xfrm>
          <a:custGeom>
            <a:avLst/>
            <a:gdLst/>
            <a:ahLst/>
            <a:cxnLst/>
            <a:rect r="r" b="b" t="t" l="l"/>
            <a:pathLst>
              <a:path h="3577615" w="2510835">
                <a:moveTo>
                  <a:pt x="0" y="0"/>
                </a:moveTo>
                <a:lnTo>
                  <a:pt x="2510835" y="0"/>
                </a:lnTo>
                <a:lnTo>
                  <a:pt x="2510835" y="3577615"/>
                </a:lnTo>
                <a:lnTo>
                  <a:pt x="0" y="35776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028252" y="1745753"/>
            <a:ext cx="6740130" cy="178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2"/>
              </a:lnSpc>
            </a:pPr>
            <a:r>
              <a:rPr lang="en-US" sz="6842" spc="684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Frame Data pada UART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2187206" y="5257747"/>
            <a:ext cx="4555923" cy="2104008"/>
          </a:xfrm>
          <a:custGeom>
            <a:avLst/>
            <a:gdLst/>
            <a:ahLst/>
            <a:cxnLst/>
            <a:rect r="r" b="b" t="t" l="l"/>
            <a:pathLst>
              <a:path h="2104008" w="4555923">
                <a:moveTo>
                  <a:pt x="4555923" y="0"/>
                </a:moveTo>
                <a:lnTo>
                  <a:pt x="0" y="0"/>
                </a:lnTo>
                <a:lnTo>
                  <a:pt x="0" y="2104008"/>
                </a:lnTo>
                <a:lnTo>
                  <a:pt x="4555923" y="2104008"/>
                </a:lnTo>
                <a:lnTo>
                  <a:pt x="455592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04464" y="4047712"/>
            <a:ext cx="7104779" cy="6239288"/>
          </a:xfrm>
          <a:custGeom>
            <a:avLst/>
            <a:gdLst/>
            <a:ahLst/>
            <a:cxnLst/>
            <a:rect r="r" b="b" t="t" l="l"/>
            <a:pathLst>
              <a:path h="6239288" w="7104779">
                <a:moveTo>
                  <a:pt x="0" y="0"/>
                </a:moveTo>
                <a:lnTo>
                  <a:pt x="7104779" y="0"/>
                </a:lnTo>
                <a:lnTo>
                  <a:pt x="7104779" y="6239288"/>
                </a:lnTo>
                <a:lnTo>
                  <a:pt x="0" y="62392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65963" y="6309751"/>
            <a:ext cx="518521" cy="51852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71827" y="9543062"/>
            <a:ext cx="518521" cy="51852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97078" y="8643078"/>
            <a:ext cx="349309" cy="34930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74658" y="5270656"/>
            <a:ext cx="349309" cy="34930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638479" y="5619965"/>
            <a:ext cx="349309" cy="349309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true" flipV="false" rot="0">
            <a:off x="-1711319" y="7361755"/>
            <a:ext cx="3834118" cy="3234601"/>
          </a:xfrm>
          <a:custGeom>
            <a:avLst/>
            <a:gdLst/>
            <a:ahLst/>
            <a:cxnLst/>
            <a:rect r="r" b="b" t="t" l="l"/>
            <a:pathLst>
              <a:path h="3234601" w="3834118">
                <a:moveTo>
                  <a:pt x="3834118" y="0"/>
                </a:moveTo>
                <a:lnTo>
                  <a:pt x="0" y="0"/>
                </a:lnTo>
                <a:lnTo>
                  <a:pt x="0" y="3234601"/>
                </a:lnTo>
                <a:lnTo>
                  <a:pt x="3834118" y="3234601"/>
                </a:lnTo>
                <a:lnTo>
                  <a:pt x="3834118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999874" y="-509091"/>
            <a:ext cx="6752735" cy="5414466"/>
          </a:xfrm>
          <a:custGeom>
            <a:avLst/>
            <a:gdLst/>
            <a:ahLst/>
            <a:cxnLst/>
            <a:rect r="r" b="b" t="t" l="l"/>
            <a:pathLst>
              <a:path h="5414466" w="6752735">
                <a:moveTo>
                  <a:pt x="0" y="0"/>
                </a:moveTo>
                <a:lnTo>
                  <a:pt x="6752734" y="0"/>
                </a:lnTo>
                <a:lnTo>
                  <a:pt x="6752734" y="5414466"/>
                </a:lnTo>
                <a:lnTo>
                  <a:pt x="0" y="541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269260" y="7251736"/>
            <a:ext cx="23188977" cy="3086100"/>
            <a:chOff x="0" y="0"/>
            <a:chExt cx="6107385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07385" cy="812800"/>
            </a:xfrm>
            <a:custGeom>
              <a:avLst/>
              <a:gdLst/>
              <a:ahLst/>
              <a:cxnLst/>
              <a:rect r="r" b="b" t="t" l="l"/>
              <a:pathLst>
                <a:path h="812800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10738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999874" y="9492857"/>
            <a:ext cx="23188977" cy="2123276"/>
            <a:chOff x="0" y="0"/>
            <a:chExt cx="6107385" cy="5592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07385" cy="559217"/>
            </a:xfrm>
            <a:custGeom>
              <a:avLst/>
              <a:gdLst/>
              <a:ahLst/>
              <a:cxnLst/>
              <a:rect r="r" b="b" t="t" l="l"/>
              <a:pathLst>
                <a:path h="559217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559217"/>
                  </a:lnTo>
                  <a:lnTo>
                    <a:pt x="0" y="559217"/>
                  </a:lnTo>
                  <a:close/>
                </a:path>
              </a:pathLst>
            </a:custGeom>
            <a:solidFill>
              <a:srgbClr val="44B7A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6107385" cy="59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216035" y="1143000"/>
            <a:ext cx="10218388" cy="178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2"/>
              </a:lnSpc>
            </a:pPr>
            <a:r>
              <a:rPr lang="en-US" sz="6842" spc="684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Konfigurasi Komunikasi UART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20696" y="2917827"/>
            <a:ext cx="11909521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0"/>
              </a:lnSpc>
            </a:pPr>
            <a:r>
              <a:rPr lang="en-US" sz="2600">
                <a:solidFill>
                  <a:srgbClr val="304D6F"/>
                </a:solidFill>
                <a:latin typeface="Canva Sans"/>
                <a:ea typeface="Canva Sans"/>
                <a:cs typeface="Canva Sans"/>
                <a:sym typeface="Canva Sans"/>
              </a:rPr>
              <a:t>Salah satu konfigurasi UART yang paling umum adalah 8N1 dan baud rate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858405" y="3489327"/>
            <a:ext cx="12571190" cy="4311189"/>
            <a:chOff x="0" y="0"/>
            <a:chExt cx="3310931" cy="11354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10931" cy="1135457"/>
            </a:xfrm>
            <a:custGeom>
              <a:avLst/>
              <a:gdLst/>
              <a:ahLst/>
              <a:cxnLst/>
              <a:rect r="r" b="b" t="t" l="l"/>
              <a:pathLst>
                <a:path h="1135457" w="3310931">
                  <a:moveTo>
                    <a:pt x="24018" y="0"/>
                  </a:moveTo>
                  <a:lnTo>
                    <a:pt x="3286913" y="0"/>
                  </a:lnTo>
                  <a:cubicBezTo>
                    <a:pt x="3300178" y="0"/>
                    <a:pt x="3310931" y="10753"/>
                    <a:pt x="3310931" y="24018"/>
                  </a:cubicBezTo>
                  <a:lnTo>
                    <a:pt x="3310931" y="1111439"/>
                  </a:lnTo>
                  <a:cubicBezTo>
                    <a:pt x="3310931" y="1124704"/>
                    <a:pt x="3300178" y="1135457"/>
                    <a:pt x="3286913" y="1135457"/>
                  </a:cubicBezTo>
                  <a:lnTo>
                    <a:pt x="24018" y="1135457"/>
                  </a:lnTo>
                  <a:cubicBezTo>
                    <a:pt x="10753" y="1135457"/>
                    <a:pt x="0" y="1124704"/>
                    <a:pt x="0" y="1111439"/>
                  </a:cubicBezTo>
                  <a:lnTo>
                    <a:pt x="0" y="24018"/>
                  </a:lnTo>
                  <a:cubicBezTo>
                    <a:pt x="0" y="10753"/>
                    <a:pt x="10753" y="0"/>
                    <a:pt x="240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310931" cy="11735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4868977" y="3080177"/>
            <a:ext cx="5183804" cy="4910476"/>
          </a:xfrm>
          <a:custGeom>
            <a:avLst/>
            <a:gdLst/>
            <a:ahLst/>
            <a:cxnLst/>
            <a:rect r="r" b="b" t="t" l="l"/>
            <a:pathLst>
              <a:path h="4910476" w="5183804">
                <a:moveTo>
                  <a:pt x="0" y="0"/>
                </a:moveTo>
                <a:lnTo>
                  <a:pt x="5183803" y="0"/>
                </a:lnTo>
                <a:lnTo>
                  <a:pt x="5183803" y="4910476"/>
                </a:lnTo>
                <a:lnTo>
                  <a:pt x="0" y="49104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610934" y="3565527"/>
            <a:ext cx="4619613" cy="49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b="true" sz="3799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8N1: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14810" y="3613787"/>
            <a:ext cx="4619613" cy="496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9"/>
              </a:lnSpc>
            </a:pPr>
            <a:r>
              <a:rPr lang="en-US" b="true" sz="3799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BAUD RATE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10934" y="4152901"/>
            <a:ext cx="5514016" cy="159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5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8N1 berarti:</a:t>
            </a:r>
          </a:p>
          <a:p>
            <a:pPr algn="l" marL="539753" indent="-269876" lvl="1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8 : jumlah data bit</a:t>
            </a:r>
          </a:p>
          <a:p>
            <a:pPr algn="l" marL="539753" indent="-269876" lvl="1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N : no parity (tanpa parity)</a:t>
            </a:r>
          </a:p>
          <a:p>
            <a:pPr algn="l" marL="539753" indent="-269876" lvl="1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1 : satu stop bit</a:t>
            </a:r>
          </a:p>
          <a:p>
            <a:pPr algn="ctr">
              <a:lnSpc>
                <a:spcPts val="2500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true" flipV="false" rot="0">
            <a:off x="-36790" y="5535415"/>
            <a:ext cx="4557486" cy="3190240"/>
          </a:xfrm>
          <a:custGeom>
            <a:avLst/>
            <a:gdLst/>
            <a:ahLst/>
            <a:cxnLst/>
            <a:rect r="r" b="b" t="t" l="l"/>
            <a:pathLst>
              <a:path h="3190240" w="4557486">
                <a:moveTo>
                  <a:pt x="4557486" y="0"/>
                </a:moveTo>
                <a:lnTo>
                  <a:pt x="0" y="0"/>
                </a:lnTo>
                <a:lnTo>
                  <a:pt x="0" y="3190240"/>
                </a:lnTo>
                <a:lnTo>
                  <a:pt x="4557486" y="3190240"/>
                </a:lnTo>
                <a:lnTo>
                  <a:pt x="455748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96682" y="4100197"/>
            <a:ext cx="4619613" cy="348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n-US" sz="25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Baud rate adalah kecepatan pengiriman data dalam satuan bit per second (bps).</a:t>
            </a:r>
          </a:p>
          <a:p>
            <a:pPr algn="just">
              <a:lnSpc>
                <a:spcPts val="2500"/>
              </a:lnSpc>
            </a:pPr>
            <a:r>
              <a:rPr lang="en-US" sz="25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Contoh baud rate umum:</a:t>
            </a:r>
          </a:p>
          <a:p>
            <a:pPr algn="just" marL="539753" indent="-269876" lvl="1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9600 bps</a:t>
            </a:r>
          </a:p>
          <a:p>
            <a:pPr algn="just" marL="539753" indent="-269876" lvl="1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115200 bps</a:t>
            </a:r>
          </a:p>
          <a:p>
            <a:pPr algn="just" marL="539753" indent="-269876" lvl="1">
              <a:lnSpc>
                <a:spcPts val="2500"/>
              </a:lnSpc>
              <a:buFont typeface="Arial"/>
              <a:buChar char="•"/>
            </a:pPr>
            <a:r>
              <a:rPr lang="en-US" sz="25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921600 bps</a:t>
            </a:r>
          </a:p>
          <a:p>
            <a:pPr algn="just">
              <a:lnSpc>
                <a:spcPts val="2500"/>
              </a:lnSpc>
            </a:pPr>
            <a:r>
              <a:rPr lang="en-US" sz="25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Baud rate pada pengirim dan penerima harus sama agar komunikasi berhasil.</a:t>
            </a:r>
          </a:p>
          <a:p>
            <a:pPr algn="just">
              <a:lnSpc>
                <a:spcPts val="2500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-1141882" y="8500283"/>
            <a:ext cx="5357917" cy="2474384"/>
          </a:xfrm>
          <a:custGeom>
            <a:avLst/>
            <a:gdLst/>
            <a:ahLst/>
            <a:cxnLst/>
            <a:rect r="r" b="b" t="t" l="l"/>
            <a:pathLst>
              <a:path h="2474384" w="5357917">
                <a:moveTo>
                  <a:pt x="0" y="0"/>
                </a:moveTo>
                <a:lnTo>
                  <a:pt x="5357917" y="0"/>
                </a:lnTo>
                <a:lnTo>
                  <a:pt x="5357917" y="2474384"/>
                </a:lnTo>
                <a:lnTo>
                  <a:pt x="0" y="24743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898113" y="-735841"/>
            <a:ext cx="3712711" cy="1593091"/>
          </a:xfrm>
          <a:custGeom>
            <a:avLst/>
            <a:gdLst/>
            <a:ahLst/>
            <a:cxnLst/>
            <a:rect r="r" b="b" t="t" l="l"/>
            <a:pathLst>
              <a:path h="1593091" w="3712711">
                <a:moveTo>
                  <a:pt x="0" y="0"/>
                </a:moveTo>
                <a:lnTo>
                  <a:pt x="3712711" y="0"/>
                </a:lnTo>
                <a:lnTo>
                  <a:pt x="3712711" y="1593091"/>
                </a:lnTo>
                <a:lnTo>
                  <a:pt x="0" y="15930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4908079" y="7545643"/>
            <a:ext cx="4299152" cy="3384605"/>
          </a:xfrm>
          <a:custGeom>
            <a:avLst/>
            <a:gdLst/>
            <a:ahLst/>
            <a:cxnLst/>
            <a:rect r="r" b="b" t="t" l="l"/>
            <a:pathLst>
              <a:path h="3384605" w="4299152">
                <a:moveTo>
                  <a:pt x="4299152" y="0"/>
                </a:moveTo>
                <a:lnTo>
                  <a:pt x="0" y="0"/>
                </a:lnTo>
                <a:lnTo>
                  <a:pt x="0" y="3384605"/>
                </a:lnTo>
                <a:lnTo>
                  <a:pt x="4299152" y="3384605"/>
                </a:lnTo>
                <a:lnTo>
                  <a:pt x="429915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430216" y="60705"/>
            <a:ext cx="2876258" cy="2829519"/>
          </a:xfrm>
          <a:custGeom>
            <a:avLst/>
            <a:gdLst/>
            <a:ahLst/>
            <a:cxnLst/>
            <a:rect r="r" b="b" t="t" l="l"/>
            <a:pathLst>
              <a:path h="2829519" w="2876258">
                <a:moveTo>
                  <a:pt x="0" y="0"/>
                </a:moveTo>
                <a:lnTo>
                  <a:pt x="2876258" y="0"/>
                </a:lnTo>
                <a:lnTo>
                  <a:pt x="2876258" y="2829518"/>
                </a:lnTo>
                <a:lnTo>
                  <a:pt x="0" y="28295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>
            <a:off x="9124950" y="4624025"/>
            <a:ext cx="0" cy="2650272"/>
          </a:xfrm>
          <a:prstGeom prst="line">
            <a:avLst/>
          </a:prstGeom>
          <a:ln cap="flat" w="38100">
            <a:solidFill>
              <a:srgbClr val="9AE6DC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5305057" y="6637837"/>
            <a:ext cx="4877457" cy="4114800"/>
          </a:xfrm>
          <a:custGeom>
            <a:avLst/>
            <a:gdLst/>
            <a:ahLst/>
            <a:cxnLst/>
            <a:rect r="r" b="b" t="t" l="l"/>
            <a:pathLst>
              <a:path h="4114800" w="4877457">
                <a:moveTo>
                  <a:pt x="0" y="0"/>
                </a:moveTo>
                <a:lnTo>
                  <a:pt x="4877457" y="0"/>
                </a:lnTo>
                <a:lnTo>
                  <a:pt x="48774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239690" y="7274297"/>
            <a:ext cx="2970789" cy="1371964"/>
          </a:xfrm>
          <a:custGeom>
            <a:avLst/>
            <a:gdLst/>
            <a:ahLst/>
            <a:cxnLst/>
            <a:rect r="r" b="b" t="t" l="l"/>
            <a:pathLst>
              <a:path h="1371964" w="2970789">
                <a:moveTo>
                  <a:pt x="0" y="0"/>
                </a:moveTo>
                <a:lnTo>
                  <a:pt x="2970789" y="0"/>
                </a:lnTo>
                <a:lnTo>
                  <a:pt x="2970789" y="1371965"/>
                </a:lnTo>
                <a:lnTo>
                  <a:pt x="0" y="13719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66509" y="433372"/>
            <a:ext cx="4513875" cy="1936863"/>
          </a:xfrm>
          <a:custGeom>
            <a:avLst/>
            <a:gdLst/>
            <a:ahLst/>
            <a:cxnLst/>
            <a:rect r="r" b="b" t="t" l="l"/>
            <a:pathLst>
              <a:path h="1936863" w="4513875">
                <a:moveTo>
                  <a:pt x="0" y="0"/>
                </a:moveTo>
                <a:lnTo>
                  <a:pt x="4513875" y="0"/>
                </a:lnTo>
                <a:lnTo>
                  <a:pt x="4513875" y="1936863"/>
                </a:lnTo>
                <a:lnTo>
                  <a:pt x="0" y="19368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29556" y="371659"/>
            <a:ext cx="3062478" cy="1314082"/>
          </a:xfrm>
          <a:custGeom>
            <a:avLst/>
            <a:gdLst/>
            <a:ahLst/>
            <a:cxnLst/>
            <a:rect r="r" b="b" t="t" l="l"/>
            <a:pathLst>
              <a:path h="1314082" w="3062478">
                <a:moveTo>
                  <a:pt x="0" y="0"/>
                </a:moveTo>
                <a:lnTo>
                  <a:pt x="3062478" y="0"/>
                </a:lnTo>
                <a:lnTo>
                  <a:pt x="3062478" y="1314082"/>
                </a:lnTo>
                <a:lnTo>
                  <a:pt x="0" y="1314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2450489" y="4905588"/>
            <a:ext cx="23188977" cy="6118483"/>
            <a:chOff x="0" y="0"/>
            <a:chExt cx="6107385" cy="16114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07385" cy="1611452"/>
            </a:xfrm>
            <a:custGeom>
              <a:avLst/>
              <a:gdLst/>
              <a:ahLst/>
              <a:cxnLst/>
              <a:rect r="r" b="b" t="t" l="l"/>
              <a:pathLst>
                <a:path h="1611452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1611452"/>
                  </a:lnTo>
                  <a:lnTo>
                    <a:pt x="0" y="1611452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107385" cy="1649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2003804" y="9678187"/>
            <a:ext cx="23188977" cy="2123276"/>
            <a:chOff x="0" y="0"/>
            <a:chExt cx="6107385" cy="5592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7385" cy="559217"/>
            </a:xfrm>
            <a:custGeom>
              <a:avLst/>
              <a:gdLst/>
              <a:ahLst/>
              <a:cxnLst/>
              <a:rect r="r" b="b" t="t" l="l"/>
              <a:pathLst>
                <a:path h="559217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559217"/>
                  </a:lnTo>
                  <a:lnTo>
                    <a:pt x="0" y="559217"/>
                  </a:lnTo>
                  <a:close/>
                </a:path>
              </a:pathLst>
            </a:custGeom>
            <a:solidFill>
              <a:srgbClr val="44B7A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107385" cy="59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693472" y="1763063"/>
            <a:ext cx="9366055" cy="4206210"/>
          </a:xfrm>
          <a:custGeom>
            <a:avLst/>
            <a:gdLst/>
            <a:ahLst/>
            <a:cxnLst/>
            <a:rect r="r" b="b" t="t" l="l"/>
            <a:pathLst>
              <a:path h="4206210" w="9366055">
                <a:moveTo>
                  <a:pt x="0" y="0"/>
                </a:moveTo>
                <a:lnTo>
                  <a:pt x="9366056" y="0"/>
                </a:lnTo>
                <a:lnTo>
                  <a:pt x="9366056" y="4206211"/>
                </a:lnTo>
                <a:lnTo>
                  <a:pt x="0" y="42062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007192" y="-571096"/>
            <a:ext cx="2042121" cy="2008936"/>
          </a:xfrm>
          <a:custGeom>
            <a:avLst/>
            <a:gdLst/>
            <a:ahLst/>
            <a:cxnLst/>
            <a:rect r="r" b="b" t="t" l="l"/>
            <a:pathLst>
              <a:path h="2008936" w="2042121">
                <a:moveTo>
                  <a:pt x="0" y="0"/>
                </a:moveTo>
                <a:lnTo>
                  <a:pt x="2042120" y="0"/>
                </a:lnTo>
                <a:lnTo>
                  <a:pt x="2042120" y="2008936"/>
                </a:lnTo>
                <a:lnTo>
                  <a:pt x="0" y="2008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22799" y="6114062"/>
            <a:ext cx="9888371" cy="308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Dalam sistem embedded terdapat beberapa metode untuk membaca data UART.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Metode tersebut antara lain:</a:t>
            </a:r>
          </a:p>
          <a:p>
            <a:pPr algn="l" marL="496574" indent="-248287" lvl="1">
              <a:lnSpc>
                <a:spcPts val="2760"/>
              </a:lnSpc>
              <a:buAutoNum type="arabicPeriod" startAt="1"/>
            </a:pPr>
            <a:r>
              <a:rPr lang="en-US" sz="23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Polling</a:t>
            </a:r>
          </a:p>
          <a:p>
            <a:pPr algn="l" marL="496574" indent="-248287" lvl="1">
              <a:lnSpc>
                <a:spcPts val="2760"/>
              </a:lnSpc>
              <a:buAutoNum type="arabicPeriod" startAt="1"/>
            </a:pPr>
            <a:r>
              <a:rPr lang="en-US" sz="23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3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nterrupt</a:t>
            </a:r>
          </a:p>
          <a:p>
            <a:pPr algn="l" marL="496574" indent="-248287" lvl="1">
              <a:lnSpc>
                <a:spcPts val="2760"/>
              </a:lnSpc>
              <a:buAutoNum type="arabicPeriod" startAt="1"/>
            </a:pPr>
            <a:r>
              <a:rPr lang="en-US" sz="23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DMA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Setiap metode memiliki karakteristik performa dan efisiensi yang berbeda tergantung kebutuhan sistem.</a:t>
            </a:r>
          </a:p>
          <a:p>
            <a:pPr algn="l">
              <a:lnSpc>
                <a:spcPts val="276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-788161">
            <a:off x="15834476" y="445319"/>
            <a:ext cx="2510835" cy="3577615"/>
          </a:xfrm>
          <a:custGeom>
            <a:avLst/>
            <a:gdLst/>
            <a:ahLst/>
            <a:cxnLst/>
            <a:rect r="r" b="b" t="t" l="l"/>
            <a:pathLst>
              <a:path h="3577615" w="2510835">
                <a:moveTo>
                  <a:pt x="0" y="0"/>
                </a:moveTo>
                <a:lnTo>
                  <a:pt x="2510835" y="0"/>
                </a:lnTo>
                <a:lnTo>
                  <a:pt x="2510835" y="3577615"/>
                </a:lnTo>
                <a:lnTo>
                  <a:pt x="0" y="35776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028252" y="1745753"/>
            <a:ext cx="6740130" cy="2646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2"/>
              </a:lnSpc>
            </a:pPr>
            <a:r>
              <a:rPr lang="en-US" sz="6842" spc="684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Metode Pembacaan Data UART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2187206" y="5257747"/>
            <a:ext cx="4555923" cy="2104008"/>
          </a:xfrm>
          <a:custGeom>
            <a:avLst/>
            <a:gdLst/>
            <a:ahLst/>
            <a:cxnLst/>
            <a:rect r="r" b="b" t="t" l="l"/>
            <a:pathLst>
              <a:path h="2104008" w="4555923">
                <a:moveTo>
                  <a:pt x="4555923" y="0"/>
                </a:moveTo>
                <a:lnTo>
                  <a:pt x="0" y="0"/>
                </a:lnTo>
                <a:lnTo>
                  <a:pt x="0" y="2104008"/>
                </a:lnTo>
                <a:lnTo>
                  <a:pt x="4555923" y="2104008"/>
                </a:lnTo>
                <a:lnTo>
                  <a:pt x="455592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704464" y="4047712"/>
            <a:ext cx="7104779" cy="6239288"/>
          </a:xfrm>
          <a:custGeom>
            <a:avLst/>
            <a:gdLst/>
            <a:ahLst/>
            <a:cxnLst/>
            <a:rect r="r" b="b" t="t" l="l"/>
            <a:pathLst>
              <a:path h="6239288" w="7104779">
                <a:moveTo>
                  <a:pt x="0" y="0"/>
                </a:moveTo>
                <a:lnTo>
                  <a:pt x="7104779" y="0"/>
                </a:lnTo>
                <a:lnTo>
                  <a:pt x="7104779" y="6239288"/>
                </a:lnTo>
                <a:lnTo>
                  <a:pt x="0" y="62392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65963" y="6309751"/>
            <a:ext cx="518521" cy="51852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71827" y="9543062"/>
            <a:ext cx="518521" cy="51852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97078" y="8643078"/>
            <a:ext cx="349309" cy="349309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74658" y="5270656"/>
            <a:ext cx="349309" cy="34930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638479" y="5619965"/>
            <a:ext cx="349309" cy="349309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true" flipV="false" rot="0">
            <a:off x="-1711319" y="7361755"/>
            <a:ext cx="3834118" cy="3234601"/>
          </a:xfrm>
          <a:custGeom>
            <a:avLst/>
            <a:gdLst/>
            <a:ahLst/>
            <a:cxnLst/>
            <a:rect r="r" b="b" t="t" l="l"/>
            <a:pathLst>
              <a:path h="3234601" w="3834118">
                <a:moveTo>
                  <a:pt x="3834118" y="0"/>
                </a:moveTo>
                <a:lnTo>
                  <a:pt x="0" y="0"/>
                </a:lnTo>
                <a:lnTo>
                  <a:pt x="0" y="3234601"/>
                </a:lnTo>
                <a:lnTo>
                  <a:pt x="3834118" y="3234601"/>
                </a:lnTo>
                <a:lnTo>
                  <a:pt x="3834118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212834" y="2631486"/>
            <a:ext cx="8974182" cy="5922960"/>
          </a:xfrm>
          <a:custGeom>
            <a:avLst/>
            <a:gdLst/>
            <a:ahLst/>
            <a:cxnLst/>
            <a:rect r="r" b="b" t="t" l="l"/>
            <a:pathLst>
              <a:path h="5922960" w="8974182">
                <a:moveTo>
                  <a:pt x="0" y="0"/>
                </a:moveTo>
                <a:lnTo>
                  <a:pt x="8974182" y="0"/>
                </a:lnTo>
                <a:lnTo>
                  <a:pt x="8974182" y="5922960"/>
                </a:lnTo>
                <a:lnTo>
                  <a:pt x="0" y="5922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05239" y="3606845"/>
            <a:ext cx="4999015" cy="2606600"/>
            <a:chOff x="0" y="0"/>
            <a:chExt cx="1316613" cy="6865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6613" cy="686512"/>
            </a:xfrm>
            <a:custGeom>
              <a:avLst/>
              <a:gdLst/>
              <a:ahLst/>
              <a:cxnLst/>
              <a:rect r="r" b="b" t="t" l="l"/>
              <a:pathLst>
                <a:path h="686512" w="1316613">
                  <a:moveTo>
                    <a:pt x="60399" y="0"/>
                  </a:moveTo>
                  <a:lnTo>
                    <a:pt x="1256214" y="0"/>
                  </a:lnTo>
                  <a:cubicBezTo>
                    <a:pt x="1289572" y="0"/>
                    <a:pt x="1316613" y="27041"/>
                    <a:pt x="1316613" y="60399"/>
                  </a:cubicBezTo>
                  <a:lnTo>
                    <a:pt x="1316613" y="626113"/>
                  </a:lnTo>
                  <a:cubicBezTo>
                    <a:pt x="1316613" y="642132"/>
                    <a:pt x="1310250" y="657495"/>
                    <a:pt x="1298923" y="668822"/>
                  </a:cubicBezTo>
                  <a:cubicBezTo>
                    <a:pt x="1287596" y="680149"/>
                    <a:pt x="1272233" y="686512"/>
                    <a:pt x="1256214" y="686512"/>
                  </a:cubicBezTo>
                  <a:lnTo>
                    <a:pt x="60399" y="686512"/>
                  </a:lnTo>
                  <a:cubicBezTo>
                    <a:pt x="44380" y="686512"/>
                    <a:pt x="29017" y="680149"/>
                    <a:pt x="17690" y="668822"/>
                  </a:cubicBezTo>
                  <a:cubicBezTo>
                    <a:pt x="6363" y="657495"/>
                    <a:pt x="0" y="642132"/>
                    <a:pt x="0" y="626113"/>
                  </a:cubicBezTo>
                  <a:lnTo>
                    <a:pt x="0" y="60399"/>
                  </a:lnTo>
                  <a:cubicBezTo>
                    <a:pt x="0" y="44380"/>
                    <a:pt x="6363" y="29017"/>
                    <a:pt x="17690" y="17690"/>
                  </a:cubicBezTo>
                  <a:cubicBezTo>
                    <a:pt x="29017" y="6363"/>
                    <a:pt x="44380" y="0"/>
                    <a:pt x="6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16613" cy="724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05239" y="6546304"/>
            <a:ext cx="4999015" cy="2606600"/>
            <a:chOff x="0" y="0"/>
            <a:chExt cx="1316613" cy="6865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16613" cy="686512"/>
            </a:xfrm>
            <a:custGeom>
              <a:avLst/>
              <a:gdLst/>
              <a:ahLst/>
              <a:cxnLst/>
              <a:rect r="r" b="b" t="t" l="l"/>
              <a:pathLst>
                <a:path h="686512" w="1316613">
                  <a:moveTo>
                    <a:pt x="60399" y="0"/>
                  </a:moveTo>
                  <a:lnTo>
                    <a:pt x="1256214" y="0"/>
                  </a:lnTo>
                  <a:cubicBezTo>
                    <a:pt x="1289572" y="0"/>
                    <a:pt x="1316613" y="27041"/>
                    <a:pt x="1316613" y="60399"/>
                  </a:cubicBezTo>
                  <a:lnTo>
                    <a:pt x="1316613" y="626113"/>
                  </a:lnTo>
                  <a:cubicBezTo>
                    <a:pt x="1316613" y="642132"/>
                    <a:pt x="1310250" y="657495"/>
                    <a:pt x="1298923" y="668822"/>
                  </a:cubicBezTo>
                  <a:cubicBezTo>
                    <a:pt x="1287596" y="680149"/>
                    <a:pt x="1272233" y="686512"/>
                    <a:pt x="1256214" y="686512"/>
                  </a:cubicBezTo>
                  <a:lnTo>
                    <a:pt x="60399" y="686512"/>
                  </a:lnTo>
                  <a:cubicBezTo>
                    <a:pt x="44380" y="686512"/>
                    <a:pt x="29017" y="680149"/>
                    <a:pt x="17690" y="668822"/>
                  </a:cubicBezTo>
                  <a:cubicBezTo>
                    <a:pt x="6363" y="657495"/>
                    <a:pt x="0" y="642132"/>
                    <a:pt x="0" y="626113"/>
                  </a:cubicBezTo>
                  <a:lnTo>
                    <a:pt x="0" y="60399"/>
                  </a:lnTo>
                  <a:cubicBezTo>
                    <a:pt x="0" y="44380"/>
                    <a:pt x="6363" y="29017"/>
                    <a:pt x="17690" y="17690"/>
                  </a:cubicBezTo>
                  <a:cubicBezTo>
                    <a:pt x="29017" y="6363"/>
                    <a:pt x="44380" y="0"/>
                    <a:pt x="6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16613" cy="7246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93274" y="4910145"/>
            <a:ext cx="4999015" cy="2956228"/>
            <a:chOff x="0" y="0"/>
            <a:chExt cx="1316613" cy="7785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6613" cy="778595"/>
            </a:xfrm>
            <a:custGeom>
              <a:avLst/>
              <a:gdLst/>
              <a:ahLst/>
              <a:cxnLst/>
              <a:rect r="r" b="b" t="t" l="l"/>
              <a:pathLst>
                <a:path h="778595" w="1316613">
                  <a:moveTo>
                    <a:pt x="60399" y="0"/>
                  </a:moveTo>
                  <a:lnTo>
                    <a:pt x="1256214" y="0"/>
                  </a:lnTo>
                  <a:cubicBezTo>
                    <a:pt x="1289572" y="0"/>
                    <a:pt x="1316613" y="27041"/>
                    <a:pt x="1316613" y="60399"/>
                  </a:cubicBezTo>
                  <a:lnTo>
                    <a:pt x="1316613" y="718196"/>
                  </a:lnTo>
                  <a:cubicBezTo>
                    <a:pt x="1316613" y="734215"/>
                    <a:pt x="1310250" y="749578"/>
                    <a:pt x="1298923" y="760905"/>
                  </a:cubicBezTo>
                  <a:cubicBezTo>
                    <a:pt x="1287596" y="772232"/>
                    <a:pt x="1272233" y="778595"/>
                    <a:pt x="1256214" y="778595"/>
                  </a:cubicBezTo>
                  <a:lnTo>
                    <a:pt x="60399" y="778595"/>
                  </a:lnTo>
                  <a:cubicBezTo>
                    <a:pt x="44380" y="778595"/>
                    <a:pt x="29017" y="772232"/>
                    <a:pt x="17690" y="760905"/>
                  </a:cubicBezTo>
                  <a:cubicBezTo>
                    <a:pt x="6363" y="749578"/>
                    <a:pt x="0" y="734215"/>
                    <a:pt x="0" y="718196"/>
                  </a:cubicBezTo>
                  <a:lnTo>
                    <a:pt x="0" y="60399"/>
                  </a:lnTo>
                  <a:cubicBezTo>
                    <a:pt x="0" y="44380"/>
                    <a:pt x="6363" y="29017"/>
                    <a:pt x="17690" y="17690"/>
                  </a:cubicBezTo>
                  <a:cubicBezTo>
                    <a:pt x="29017" y="6363"/>
                    <a:pt x="44380" y="0"/>
                    <a:pt x="603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16613" cy="8166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090467" y="1732554"/>
            <a:ext cx="8546790" cy="6821892"/>
          </a:xfrm>
          <a:custGeom>
            <a:avLst/>
            <a:gdLst/>
            <a:ahLst/>
            <a:cxnLst/>
            <a:rect r="r" b="b" t="t" l="l"/>
            <a:pathLst>
              <a:path h="6821892" w="8546790">
                <a:moveTo>
                  <a:pt x="0" y="0"/>
                </a:moveTo>
                <a:lnTo>
                  <a:pt x="8546789" y="0"/>
                </a:lnTo>
                <a:lnTo>
                  <a:pt x="8546789" y="6821892"/>
                </a:lnTo>
                <a:lnTo>
                  <a:pt x="0" y="6821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1804452" y="6482487"/>
            <a:ext cx="4299152" cy="3384605"/>
          </a:xfrm>
          <a:custGeom>
            <a:avLst/>
            <a:gdLst/>
            <a:ahLst/>
            <a:cxnLst/>
            <a:rect r="r" b="b" t="t" l="l"/>
            <a:pathLst>
              <a:path h="3384605" w="4299152">
                <a:moveTo>
                  <a:pt x="4299152" y="0"/>
                </a:moveTo>
                <a:lnTo>
                  <a:pt x="0" y="0"/>
                </a:lnTo>
                <a:lnTo>
                  <a:pt x="0" y="3384605"/>
                </a:lnTo>
                <a:lnTo>
                  <a:pt x="4299152" y="3384605"/>
                </a:lnTo>
                <a:lnTo>
                  <a:pt x="429915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129966" y="127777"/>
            <a:ext cx="5525519" cy="2370950"/>
          </a:xfrm>
          <a:custGeom>
            <a:avLst/>
            <a:gdLst/>
            <a:ahLst/>
            <a:cxnLst/>
            <a:rect r="r" b="b" t="t" l="l"/>
            <a:pathLst>
              <a:path h="2370950" w="5525519">
                <a:moveTo>
                  <a:pt x="0" y="0"/>
                </a:moveTo>
                <a:lnTo>
                  <a:pt x="5525520" y="0"/>
                </a:lnTo>
                <a:lnTo>
                  <a:pt x="5525520" y="2370950"/>
                </a:lnTo>
                <a:lnTo>
                  <a:pt x="0" y="23709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72079" y="1047750"/>
            <a:ext cx="10218388" cy="178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2"/>
              </a:lnSpc>
            </a:pPr>
            <a:r>
              <a:rPr lang="en-US" sz="6842" spc="684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Perbandingan Metode UART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79527" y="3669029"/>
            <a:ext cx="3850439" cy="2003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Polling</a:t>
            </a:r>
          </a:p>
          <a:p>
            <a:pPr algn="ctr">
              <a:lnSpc>
                <a:spcPts val="2000"/>
              </a:lnSpc>
            </a:pPr>
          </a:p>
          <a:p>
            <a:pPr algn="l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CPU </a:t>
            </a: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terus mengecek apakah data sudah masuk.</a:t>
            </a:r>
          </a:p>
          <a:p>
            <a:pPr algn="l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Implementasi sederhana.</a:t>
            </a:r>
          </a:p>
          <a:p>
            <a:pPr algn="l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Kurang efisien karena CPU selalu aktif mengecek.</a:t>
            </a:r>
          </a:p>
          <a:p>
            <a:pPr algn="ctr">
              <a:lnSpc>
                <a:spcPts val="20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071971" y="6878948"/>
            <a:ext cx="4343205" cy="2003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Interrupt</a:t>
            </a:r>
          </a:p>
          <a:p>
            <a:pPr algn="ctr">
              <a:lnSpc>
                <a:spcPts val="2000"/>
              </a:lnSpc>
            </a:pPr>
          </a:p>
          <a:p>
            <a:pPr algn="l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CPU hanya bekerja ketika data datang.</a:t>
            </a:r>
          </a:p>
          <a:p>
            <a:pPr algn="l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Lebih efisien dibanding polling.</a:t>
            </a:r>
          </a:p>
          <a:p>
            <a:pPr algn="l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Cocok untuk sistem real-time sederhana.</a:t>
            </a:r>
          </a:p>
          <a:p>
            <a:pPr algn="l">
              <a:lnSpc>
                <a:spcPts val="20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667562" y="4925059"/>
            <a:ext cx="3850439" cy="2994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 b="true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DMA (Direct Memory Access)</a:t>
            </a:r>
          </a:p>
          <a:p>
            <a:pPr algn="ctr">
              <a:lnSpc>
                <a:spcPts val="2000"/>
              </a:lnSpc>
            </a:pP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Data langsung dipindahkan ke memori tanpa campur tangan CPU.</a:t>
            </a: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Sangat efisien untuk transfer data besar.</a:t>
            </a: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Banyak digunakan pada sistem embedded yang membutuhkan performa tinggi.</a:t>
            </a:r>
          </a:p>
          <a:p>
            <a:pPr algn="ctr">
              <a:lnSpc>
                <a:spcPts val="2000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220011" y="3394018"/>
            <a:ext cx="1022347" cy="1022347"/>
            <a:chOff x="0" y="0"/>
            <a:chExt cx="1363129" cy="136312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363129" cy="1363129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4D62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344863" y="181327"/>
              <a:ext cx="673403" cy="1001005"/>
            </a:xfrm>
            <a:custGeom>
              <a:avLst/>
              <a:gdLst/>
              <a:ahLst/>
              <a:cxnLst/>
              <a:rect r="r" b="b" t="t" l="l"/>
              <a:pathLst>
                <a:path h="1001005" w="673403">
                  <a:moveTo>
                    <a:pt x="0" y="0"/>
                  </a:moveTo>
                  <a:lnTo>
                    <a:pt x="673403" y="0"/>
                  </a:lnTo>
                  <a:lnTo>
                    <a:pt x="673403" y="1001005"/>
                  </a:lnTo>
                  <a:lnTo>
                    <a:pt x="0" y="10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704254" y="4656454"/>
            <a:ext cx="1022347" cy="1022347"/>
            <a:chOff x="0" y="0"/>
            <a:chExt cx="1363129" cy="136312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363129" cy="1363129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4D62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28" id="28"/>
            <p:cNvSpPr/>
            <p:nvPr/>
          </p:nvSpPr>
          <p:spPr>
            <a:xfrm flipH="false" flipV="false" rot="0">
              <a:off x="344863" y="181327"/>
              <a:ext cx="673403" cy="1001005"/>
            </a:xfrm>
            <a:custGeom>
              <a:avLst/>
              <a:gdLst/>
              <a:ahLst/>
              <a:cxnLst/>
              <a:rect r="r" b="b" t="t" l="l"/>
              <a:pathLst>
                <a:path h="1001005" w="673403">
                  <a:moveTo>
                    <a:pt x="0" y="0"/>
                  </a:moveTo>
                  <a:lnTo>
                    <a:pt x="673403" y="0"/>
                  </a:lnTo>
                  <a:lnTo>
                    <a:pt x="673403" y="1001005"/>
                  </a:lnTo>
                  <a:lnTo>
                    <a:pt x="0" y="10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20011" y="6339199"/>
            <a:ext cx="1022347" cy="1022347"/>
            <a:chOff x="0" y="0"/>
            <a:chExt cx="1363129" cy="136312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363129" cy="1363129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24D62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344863" y="181327"/>
              <a:ext cx="673403" cy="1001005"/>
            </a:xfrm>
            <a:custGeom>
              <a:avLst/>
              <a:gdLst/>
              <a:ahLst/>
              <a:cxnLst/>
              <a:rect r="r" b="b" t="t" l="l"/>
              <a:pathLst>
                <a:path h="1001005" w="673403">
                  <a:moveTo>
                    <a:pt x="0" y="0"/>
                  </a:moveTo>
                  <a:lnTo>
                    <a:pt x="673403" y="0"/>
                  </a:lnTo>
                  <a:lnTo>
                    <a:pt x="673403" y="1001005"/>
                  </a:lnTo>
                  <a:lnTo>
                    <a:pt x="0" y="10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488226" y="8498604"/>
            <a:ext cx="2154710" cy="995084"/>
          </a:xfrm>
          <a:custGeom>
            <a:avLst/>
            <a:gdLst/>
            <a:ahLst/>
            <a:cxnLst/>
            <a:rect r="r" b="b" t="t" l="l"/>
            <a:pathLst>
              <a:path h="995084" w="2154710">
                <a:moveTo>
                  <a:pt x="0" y="0"/>
                </a:moveTo>
                <a:lnTo>
                  <a:pt x="2154710" y="0"/>
                </a:lnTo>
                <a:lnTo>
                  <a:pt x="2154710" y="995084"/>
                </a:lnTo>
                <a:lnTo>
                  <a:pt x="0" y="9950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526583" y="-1449646"/>
            <a:ext cx="3234765" cy="3182200"/>
          </a:xfrm>
          <a:custGeom>
            <a:avLst/>
            <a:gdLst/>
            <a:ahLst/>
            <a:cxnLst/>
            <a:rect r="r" b="b" t="t" l="l"/>
            <a:pathLst>
              <a:path h="3182200" w="3234765">
                <a:moveTo>
                  <a:pt x="0" y="0"/>
                </a:moveTo>
                <a:lnTo>
                  <a:pt x="3234765" y="0"/>
                </a:lnTo>
                <a:lnTo>
                  <a:pt x="3234765" y="3182200"/>
                </a:lnTo>
                <a:lnTo>
                  <a:pt x="0" y="31822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950151" y="-1185475"/>
            <a:ext cx="5525519" cy="2370950"/>
          </a:xfrm>
          <a:custGeom>
            <a:avLst/>
            <a:gdLst/>
            <a:ahLst/>
            <a:cxnLst/>
            <a:rect r="r" b="b" t="t" l="l"/>
            <a:pathLst>
              <a:path h="2370950" w="5525519">
                <a:moveTo>
                  <a:pt x="0" y="0"/>
                </a:moveTo>
                <a:lnTo>
                  <a:pt x="5525519" y="0"/>
                </a:lnTo>
                <a:lnTo>
                  <a:pt x="5525519" y="2370950"/>
                </a:lnTo>
                <a:lnTo>
                  <a:pt x="0" y="23709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424217" y="7436288"/>
            <a:ext cx="4877457" cy="4114800"/>
          </a:xfrm>
          <a:custGeom>
            <a:avLst/>
            <a:gdLst/>
            <a:ahLst/>
            <a:cxnLst/>
            <a:rect r="r" b="b" t="t" l="l"/>
            <a:pathLst>
              <a:path h="4114800" w="4877457">
                <a:moveTo>
                  <a:pt x="0" y="0"/>
                </a:moveTo>
                <a:lnTo>
                  <a:pt x="4877456" y="0"/>
                </a:lnTo>
                <a:lnTo>
                  <a:pt x="48774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1953" y="427251"/>
            <a:ext cx="3343813" cy="4529796"/>
          </a:xfrm>
          <a:custGeom>
            <a:avLst/>
            <a:gdLst/>
            <a:ahLst/>
            <a:cxnLst/>
            <a:rect r="r" b="b" t="t" l="l"/>
            <a:pathLst>
              <a:path h="4529796" w="3343813">
                <a:moveTo>
                  <a:pt x="0" y="0"/>
                </a:moveTo>
                <a:lnTo>
                  <a:pt x="3343813" y="0"/>
                </a:lnTo>
                <a:lnTo>
                  <a:pt x="3343813" y="4529796"/>
                </a:lnTo>
                <a:lnTo>
                  <a:pt x="0" y="4529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77295" y="4619226"/>
            <a:ext cx="4685590" cy="4114800"/>
          </a:xfrm>
          <a:custGeom>
            <a:avLst/>
            <a:gdLst/>
            <a:ahLst/>
            <a:cxnLst/>
            <a:rect r="r" b="b" t="t" l="l"/>
            <a:pathLst>
              <a:path h="4114800" w="4685590">
                <a:moveTo>
                  <a:pt x="4685590" y="0"/>
                </a:moveTo>
                <a:lnTo>
                  <a:pt x="0" y="0"/>
                </a:lnTo>
                <a:lnTo>
                  <a:pt x="0" y="4114800"/>
                </a:lnTo>
                <a:lnTo>
                  <a:pt x="4685590" y="4114800"/>
                </a:lnTo>
                <a:lnTo>
                  <a:pt x="46855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65500" y="2991188"/>
            <a:ext cx="11180783" cy="3635310"/>
            <a:chOff x="0" y="0"/>
            <a:chExt cx="2944733" cy="9574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44733" cy="957448"/>
            </a:xfrm>
            <a:custGeom>
              <a:avLst/>
              <a:gdLst/>
              <a:ahLst/>
              <a:cxnLst/>
              <a:rect r="r" b="b" t="t" l="l"/>
              <a:pathLst>
                <a:path h="957448" w="2944733">
                  <a:moveTo>
                    <a:pt x="27005" y="0"/>
                  </a:moveTo>
                  <a:lnTo>
                    <a:pt x="2917728" y="0"/>
                  </a:lnTo>
                  <a:cubicBezTo>
                    <a:pt x="2924890" y="0"/>
                    <a:pt x="2931759" y="2845"/>
                    <a:pt x="2936823" y="7910"/>
                  </a:cubicBezTo>
                  <a:cubicBezTo>
                    <a:pt x="2941888" y="12974"/>
                    <a:pt x="2944733" y="19843"/>
                    <a:pt x="2944733" y="27005"/>
                  </a:cubicBezTo>
                  <a:lnTo>
                    <a:pt x="2944733" y="930443"/>
                  </a:lnTo>
                  <a:cubicBezTo>
                    <a:pt x="2944733" y="945357"/>
                    <a:pt x="2932643" y="957448"/>
                    <a:pt x="2917728" y="957448"/>
                  </a:cubicBezTo>
                  <a:lnTo>
                    <a:pt x="27005" y="957448"/>
                  </a:lnTo>
                  <a:cubicBezTo>
                    <a:pt x="19843" y="957448"/>
                    <a:pt x="12974" y="954603"/>
                    <a:pt x="7910" y="949538"/>
                  </a:cubicBezTo>
                  <a:cubicBezTo>
                    <a:pt x="2845" y="944474"/>
                    <a:pt x="0" y="937605"/>
                    <a:pt x="0" y="930443"/>
                  </a:cubicBezTo>
                  <a:lnTo>
                    <a:pt x="0" y="27005"/>
                  </a:lnTo>
                  <a:cubicBezTo>
                    <a:pt x="0" y="19843"/>
                    <a:pt x="2845" y="12974"/>
                    <a:pt x="7910" y="7910"/>
                  </a:cubicBezTo>
                  <a:cubicBezTo>
                    <a:pt x="12974" y="2845"/>
                    <a:pt x="19843" y="0"/>
                    <a:pt x="270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44733" cy="995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912033" y="8372298"/>
            <a:ext cx="23188977" cy="1216289"/>
            <a:chOff x="0" y="0"/>
            <a:chExt cx="6107385" cy="3203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7385" cy="320340"/>
            </a:xfrm>
            <a:custGeom>
              <a:avLst/>
              <a:gdLst/>
              <a:ahLst/>
              <a:cxnLst/>
              <a:rect r="r" b="b" t="t" l="l"/>
              <a:pathLst>
                <a:path h="320340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320340"/>
                  </a:lnTo>
                  <a:lnTo>
                    <a:pt x="0" y="320340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107385" cy="358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024842" y="9362898"/>
            <a:ext cx="23188977" cy="1216289"/>
            <a:chOff x="0" y="0"/>
            <a:chExt cx="6107385" cy="3203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07385" cy="320340"/>
            </a:xfrm>
            <a:custGeom>
              <a:avLst/>
              <a:gdLst/>
              <a:ahLst/>
              <a:cxnLst/>
              <a:rect r="r" b="b" t="t" l="l"/>
              <a:pathLst>
                <a:path h="320340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320340"/>
                  </a:lnTo>
                  <a:lnTo>
                    <a:pt x="0" y="320340"/>
                  </a:lnTo>
                  <a:close/>
                </a:path>
              </a:pathLst>
            </a:custGeom>
            <a:solidFill>
              <a:srgbClr val="01928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107385" cy="358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117485" y="796880"/>
            <a:ext cx="6986687" cy="2997924"/>
          </a:xfrm>
          <a:custGeom>
            <a:avLst/>
            <a:gdLst/>
            <a:ahLst/>
            <a:cxnLst/>
            <a:rect r="r" b="b" t="t" l="l"/>
            <a:pathLst>
              <a:path h="2997924" w="6986687">
                <a:moveTo>
                  <a:pt x="0" y="0"/>
                </a:moveTo>
                <a:lnTo>
                  <a:pt x="6986687" y="0"/>
                </a:lnTo>
                <a:lnTo>
                  <a:pt x="6986687" y="2997923"/>
                </a:lnTo>
                <a:lnTo>
                  <a:pt x="0" y="2997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82036" y="-659190"/>
            <a:ext cx="3933643" cy="1687890"/>
          </a:xfrm>
          <a:custGeom>
            <a:avLst/>
            <a:gdLst/>
            <a:ahLst/>
            <a:cxnLst/>
            <a:rect r="r" b="b" t="t" l="l"/>
            <a:pathLst>
              <a:path h="1687890" w="3933643">
                <a:moveTo>
                  <a:pt x="0" y="0"/>
                </a:moveTo>
                <a:lnTo>
                  <a:pt x="3933643" y="0"/>
                </a:lnTo>
                <a:lnTo>
                  <a:pt x="3933643" y="1687890"/>
                </a:lnTo>
                <a:lnTo>
                  <a:pt x="0" y="1687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445495" y="-1510794"/>
            <a:ext cx="6718641" cy="7161797"/>
          </a:xfrm>
          <a:custGeom>
            <a:avLst/>
            <a:gdLst/>
            <a:ahLst/>
            <a:cxnLst/>
            <a:rect r="r" b="b" t="t" l="l"/>
            <a:pathLst>
              <a:path h="7161797" w="6718641">
                <a:moveTo>
                  <a:pt x="0" y="0"/>
                </a:moveTo>
                <a:lnTo>
                  <a:pt x="6718641" y="0"/>
                </a:lnTo>
                <a:lnTo>
                  <a:pt x="6718641" y="7161797"/>
                </a:lnTo>
                <a:lnTo>
                  <a:pt x="0" y="71617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613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688632" y="2426318"/>
            <a:ext cx="4237994" cy="6150124"/>
          </a:xfrm>
          <a:custGeom>
            <a:avLst/>
            <a:gdLst/>
            <a:ahLst/>
            <a:cxnLst/>
            <a:rect r="r" b="b" t="t" l="l"/>
            <a:pathLst>
              <a:path h="6150124" w="4237994">
                <a:moveTo>
                  <a:pt x="0" y="0"/>
                </a:moveTo>
                <a:lnTo>
                  <a:pt x="4237995" y="0"/>
                </a:lnTo>
                <a:lnTo>
                  <a:pt x="4237995" y="6150123"/>
                </a:lnTo>
                <a:lnTo>
                  <a:pt x="0" y="61501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2688632" y="3781026"/>
            <a:ext cx="6574912" cy="4961070"/>
          </a:xfrm>
          <a:custGeom>
            <a:avLst/>
            <a:gdLst/>
            <a:ahLst/>
            <a:cxnLst/>
            <a:rect r="r" b="b" t="t" l="l"/>
            <a:pathLst>
              <a:path h="4961070" w="6574912">
                <a:moveTo>
                  <a:pt x="6574912" y="0"/>
                </a:moveTo>
                <a:lnTo>
                  <a:pt x="0" y="0"/>
                </a:lnTo>
                <a:lnTo>
                  <a:pt x="0" y="4961069"/>
                </a:lnTo>
                <a:lnTo>
                  <a:pt x="6574912" y="4961069"/>
                </a:lnTo>
                <a:lnTo>
                  <a:pt x="657491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46814" y="6912248"/>
            <a:ext cx="2546856" cy="3666939"/>
          </a:xfrm>
          <a:custGeom>
            <a:avLst/>
            <a:gdLst/>
            <a:ahLst/>
            <a:cxnLst/>
            <a:rect r="r" b="b" t="t" l="l"/>
            <a:pathLst>
              <a:path h="3666939" w="2546856">
                <a:moveTo>
                  <a:pt x="0" y="0"/>
                </a:moveTo>
                <a:lnTo>
                  <a:pt x="2546856" y="0"/>
                </a:lnTo>
                <a:lnTo>
                  <a:pt x="2546856" y="3666939"/>
                </a:lnTo>
                <a:lnTo>
                  <a:pt x="0" y="36669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7409835" y="3781026"/>
            <a:ext cx="0" cy="2650272"/>
          </a:xfrm>
          <a:prstGeom prst="line">
            <a:avLst/>
          </a:prstGeom>
          <a:ln cap="flat" w="38100">
            <a:solidFill>
              <a:srgbClr val="11B286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4166295" y="2473797"/>
            <a:ext cx="965124" cy="965124"/>
          </a:xfrm>
          <a:custGeom>
            <a:avLst/>
            <a:gdLst/>
            <a:ahLst/>
            <a:cxnLst/>
            <a:rect r="r" b="b" t="t" l="l"/>
            <a:pathLst>
              <a:path h="965124" w="965124">
                <a:moveTo>
                  <a:pt x="0" y="0"/>
                </a:moveTo>
                <a:lnTo>
                  <a:pt x="965124" y="0"/>
                </a:lnTo>
                <a:lnTo>
                  <a:pt x="965124" y="965124"/>
                </a:lnTo>
                <a:lnTo>
                  <a:pt x="0" y="9651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634923" y="2508626"/>
            <a:ext cx="965124" cy="965124"/>
          </a:xfrm>
          <a:custGeom>
            <a:avLst/>
            <a:gdLst/>
            <a:ahLst/>
            <a:cxnLst/>
            <a:rect r="r" b="b" t="t" l="l"/>
            <a:pathLst>
              <a:path h="965124" w="965124">
                <a:moveTo>
                  <a:pt x="0" y="0"/>
                </a:moveTo>
                <a:lnTo>
                  <a:pt x="965124" y="0"/>
                </a:lnTo>
                <a:lnTo>
                  <a:pt x="965124" y="965124"/>
                </a:lnTo>
                <a:lnTo>
                  <a:pt x="0" y="9651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269592" y="556220"/>
            <a:ext cx="10218388" cy="178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2"/>
              </a:lnSpc>
            </a:pPr>
            <a:r>
              <a:rPr lang="en-US" sz="6842" spc="684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Implementasi UART pada ESP32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80398" y="6860159"/>
            <a:ext cx="1090758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200">
                <a:solidFill>
                  <a:srgbClr val="21354D"/>
                </a:solidFill>
                <a:latin typeface="Canva Sans"/>
                <a:ea typeface="Canva Sans"/>
                <a:cs typeface="Canva Sans"/>
                <a:sym typeface="Canva Sans"/>
              </a:rPr>
              <a:t>Hal ini membuat ESP32 sangat fleksibel dalam pengembangan sistem embedded.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13549" y="3756250"/>
            <a:ext cx="5270617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800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ESP32 memiliki 3 UART controller, yaitu: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82700" y="3828651"/>
            <a:ext cx="3752119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800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Karakteristik utama: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82036" y="4541745"/>
            <a:ext cx="3062262" cy="1260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0"/>
              </a:lnSpc>
            </a:pP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UART0</a:t>
            </a: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UART1</a:t>
            </a: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UART2</a:t>
            </a:r>
          </a:p>
          <a:p>
            <a:pPr algn="just">
              <a:lnSpc>
                <a:spcPts val="200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8182700" y="4323334"/>
            <a:ext cx="4004182" cy="2498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Pin UART dapat dipindahkan (remappable) melalui GPIO matrix.</a:t>
            </a: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Fleksibel untuk berbagai kebutuhan desain hardware.</a:t>
            </a: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Mendukung fitur:</a:t>
            </a:r>
          </a:p>
          <a:p>
            <a:pPr algn="l" marL="431805" indent="-215903" lvl="1">
              <a:lnSpc>
                <a:spcPts val="2000"/>
              </a:lnSpc>
              <a:buAutoNum type="arabicPeriod" startAt="1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interrupt</a:t>
            </a:r>
          </a:p>
          <a:p>
            <a:pPr algn="l" marL="431805" indent="-215903" lvl="1">
              <a:lnSpc>
                <a:spcPts val="2000"/>
              </a:lnSpc>
              <a:buAutoNum type="arabicPeriod" startAt="1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DMA</a:t>
            </a:r>
          </a:p>
          <a:p>
            <a:pPr algn="l" marL="431805" indent="-215903" lvl="1">
              <a:lnSpc>
                <a:spcPts val="2000"/>
              </a:lnSpc>
              <a:buAutoNum type="arabicPeriod" startAt="1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buffer internal</a:t>
            </a:r>
          </a:p>
          <a:p>
            <a:pPr algn="just">
              <a:lnSpc>
                <a:spcPts val="2000"/>
              </a:lnSpc>
            </a:pP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2682036" y="7699512"/>
            <a:ext cx="2991464" cy="1381513"/>
          </a:xfrm>
          <a:custGeom>
            <a:avLst/>
            <a:gdLst/>
            <a:ahLst/>
            <a:cxnLst/>
            <a:rect r="r" b="b" t="t" l="l"/>
            <a:pathLst>
              <a:path h="1381513" w="2991464">
                <a:moveTo>
                  <a:pt x="0" y="0"/>
                </a:moveTo>
                <a:lnTo>
                  <a:pt x="2991464" y="0"/>
                </a:lnTo>
                <a:lnTo>
                  <a:pt x="2991464" y="1381512"/>
                </a:lnTo>
                <a:lnTo>
                  <a:pt x="0" y="13815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1953" y="427251"/>
            <a:ext cx="3343813" cy="4529796"/>
          </a:xfrm>
          <a:custGeom>
            <a:avLst/>
            <a:gdLst/>
            <a:ahLst/>
            <a:cxnLst/>
            <a:rect r="r" b="b" t="t" l="l"/>
            <a:pathLst>
              <a:path h="4529796" w="3343813">
                <a:moveTo>
                  <a:pt x="0" y="0"/>
                </a:moveTo>
                <a:lnTo>
                  <a:pt x="3343813" y="0"/>
                </a:lnTo>
                <a:lnTo>
                  <a:pt x="3343813" y="4529796"/>
                </a:lnTo>
                <a:lnTo>
                  <a:pt x="0" y="45297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977295" y="4619226"/>
            <a:ext cx="4685590" cy="4114800"/>
          </a:xfrm>
          <a:custGeom>
            <a:avLst/>
            <a:gdLst/>
            <a:ahLst/>
            <a:cxnLst/>
            <a:rect r="r" b="b" t="t" l="l"/>
            <a:pathLst>
              <a:path h="4114800" w="4685590">
                <a:moveTo>
                  <a:pt x="4685590" y="0"/>
                </a:moveTo>
                <a:lnTo>
                  <a:pt x="0" y="0"/>
                </a:lnTo>
                <a:lnTo>
                  <a:pt x="0" y="4114800"/>
                </a:lnTo>
                <a:lnTo>
                  <a:pt x="4685590" y="4114800"/>
                </a:lnTo>
                <a:lnTo>
                  <a:pt x="46855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65500" y="2991188"/>
            <a:ext cx="11180783" cy="3635310"/>
            <a:chOff x="0" y="0"/>
            <a:chExt cx="2944733" cy="9574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44733" cy="957448"/>
            </a:xfrm>
            <a:custGeom>
              <a:avLst/>
              <a:gdLst/>
              <a:ahLst/>
              <a:cxnLst/>
              <a:rect r="r" b="b" t="t" l="l"/>
              <a:pathLst>
                <a:path h="957448" w="2944733">
                  <a:moveTo>
                    <a:pt x="27005" y="0"/>
                  </a:moveTo>
                  <a:lnTo>
                    <a:pt x="2917728" y="0"/>
                  </a:lnTo>
                  <a:cubicBezTo>
                    <a:pt x="2924890" y="0"/>
                    <a:pt x="2931759" y="2845"/>
                    <a:pt x="2936823" y="7910"/>
                  </a:cubicBezTo>
                  <a:cubicBezTo>
                    <a:pt x="2941888" y="12974"/>
                    <a:pt x="2944733" y="19843"/>
                    <a:pt x="2944733" y="27005"/>
                  </a:cubicBezTo>
                  <a:lnTo>
                    <a:pt x="2944733" y="930443"/>
                  </a:lnTo>
                  <a:cubicBezTo>
                    <a:pt x="2944733" y="945357"/>
                    <a:pt x="2932643" y="957448"/>
                    <a:pt x="2917728" y="957448"/>
                  </a:cubicBezTo>
                  <a:lnTo>
                    <a:pt x="27005" y="957448"/>
                  </a:lnTo>
                  <a:cubicBezTo>
                    <a:pt x="19843" y="957448"/>
                    <a:pt x="12974" y="954603"/>
                    <a:pt x="7910" y="949538"/>
                  </a:cubicBezTo>
                  <a:cubicBezTo>
                    <a:pt x="2845" y="944474"/>
                    <a:pt x="0" y="937605"/>
                    <a:pt x="0" y="930443"/>
                  </a:cubicBezTo>
                  <a:lnTo>
                    <a:pt x="0" y="27005"/>
                  </a:lnTo>
                  <a:cubicBezTo>
                    <a:pt x="0" y="19843"/>
                    <a:pt x="2845" y="12974"/>
                    <a:pt x="7910" y="7910"/>
                  </a:cubicBezTo>
                  <a:cubicBezTo>
                    <a:pt x="12974" y="2845"/>
                    <a:pt x="19843" y="0"/>
                    <a:pt x="270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944733" cy="995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912033" y="8372298"/>
            <a:ext cx="23188977" cy="1216289"/>
            <a:chOff x="0" y="0"/>
            <a:chExt cx="6107385" cy="3203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07385" cy="320340"/>
            </a:xfrm>
            <a:custGeom>
              <a:avLst/>
              <a:gdLst/>
              <a:ahLst/>
              <a:cxnLst/>
              <a:rect r="r" b="b" t="t" l="l"/>
              <a:pathLst>
                <a:path h="320340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320340"/>
                  </a:lnTo>
                  <a:lnTo>
                    <a:pt x="0" y="320340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107385" cy="358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024842" y="9362898"/>
            <a:ext cx="23188977" cy="1216289"/>
            <a:chOff x="0" y="0"/>
            <a:chExt cx="6107385" cy="3203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07385" cy="320340"/>
            </a:xfrm>
            <a:custGeom>
              <a:avLst/>
              <a:gdLst/>
              <a:ahLst/>
              <a:cxnLst/>
              <a:rect r="r" b="b" t="t" l="l"/>
              <a:pathLst>
                <a:path h="320340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320340"/>
                  </a:lnTo>
                  <a:lnTo>
                    <a:pt x="0" y="320340"/>
                  </a:lnTo>
                  <a:close/>
                </a:path>
              </a:pathLst>
            </a:custGeom>
            <a:solidFill>
              <a:srgbClr val="01928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107385" cy="358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117485" y="796880"/>
            <a:ext cx="6986687" cy="2997924"/>
          </a:xfrm>
          <a:custGeom>
            <a:avLst/>
            <a:gdLst/>
            <a:ahLst/>
            <a:cxnLst/>
            <a:rect r="r" b="b" t="t" l="l"/>
            <a:pathLst>
              <a:path h="2997924" w="6986687">
                <a:moveTo>
                  <a:pt x="0" y="0"/>
                </a:moveTo>
                <a:lnTo>
                  <a:pt x="6986687" y="0"/>
                </a:lnTo>
                <a:lnTo>
                  <a:pt x="6986687" y="2997923"/>
                </a:lnTo>
                <a:lnTo>
                  <a:pt x="0" y="29979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682036" y="-659190"/>
            <a:ext cx="3933643" cy="1687890"/>
          </a:xfrm>
          <a:custGeom>
            <a:avLst/>
            <a:gdLst/>
            <a:ahLst/>
            <a:cxnLst/>
            <a:rect r="r" b="b" t="t" l="l"/>
            <a:pathLst>
              <a:path h="1687890" w="3933643">
                <a:moveTo>
                  <a:pt x="0" y="0"/>
                </a:moveTo>
                <a:lnTo>
                  <a:pt x="3933643" y="0"/>
                </a:lnTo>
                <a:lnTo>
                  <a:pt x="3933643" y="1687890"/>
                </a:lnTo>
                <a:lnTo>
                  <a:pt x="0" y="1687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445495" y="-1510794"/>
            <a:ext cx="6718641" cy="7161797"/>
          </a:xfrm>
          <a:custGeom>
            <a:avLst/>
            <a:gdLst/>
            <a:ahLst/>
            <a:cxnLst/>
            <a:rect r="r" b="b" t="t" l="l"/>
            <a:pathLst>
              <a:path h="7161797" w="6718641">
                <a:moveTo>
                  <a:pt x="0" y="0"/>
                </a:moveTo>
                <a:lnTo>
                  <a:pt x="6718641" y="0"/>
                </a:lnTo>
                <a:lnTo>
                  <a:pt x="6718641" y="7161797"/>
                </a:lnTo>
                <a:lnTo>
                  <a:pt x="0" y="71617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3613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688632" y="2426318"/>
            <a:ext cx="4237994" cy="6150124"/>
          </a:xfrm>
          <a:custGeom>
            <a:avLst/>
            <a:gdLst/>
            <a:ahLst/>
            <a:cxnLst/>
            <a:rect r="r" b="b" t="t" l="l"/>
            <a:pathLst>
              <a:path h="6150124" w="4237994">
                <a:moveTo>
                  <a:pt x="0" y="0"/>
                </a:moveTo>
                <a:lnTo>
                  <a:pt x="4237995" y="0"/>
                </a:lnTo>
                <a:lnTo>
                  <a:pt x="4237995" y="6150123"/>
                </a:lnTo>
                <a:lnTo>
                  <a:pt x="0" y="61501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12688632" y="3781026"/>
            <a:ext cx="6574912" cy="4961070"/>
          </a:xfrm>
          <a:custGeom>
            <a:avLst/>
            <a:gdLst/>
            <a:ahLst/>
            <a:cxnLst/>
            <a:rect r="r" b="b" t="t" l="l"/>
            <a:pathLst>
              <a:path h="4961070" w="6574912">
                <a:moveTo>
                  <a:pt x="6574912" y="0"/>
                </a:moveTo>
                <a:lnTo>
                  <a:pt x="0" y="0"/>
                </a:lnTo>
                <a:lnTo>
                  <a:pt x="0" y="4961069"/>
                </a:lnTo>
                <a:lnTo>
                  <a:pt x="6574912" y="4961069"/>
                </a:lnTo>
                <a:lnTo>
                  <a:pt x="657491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546814" y="6912248"/>
            <a:ext cx="2546856" cy="3666939"/>
          </a:xfrm>
          <a:custGeom>
            <a:avLst/>
            <a:gdLst/>
            <a:ahLst/>
            <a:cxnLst/>
            <a:rect r="r" b="b" t="t" l="l"/>
            <a:pathLst>
              <a:path h="3666939" w="2546856">
                <a:moveTo>
                  <a:pt x="0" y="0"/>
                </a:moveTo>
                <a:lnTo>
                  <a:pt x="2546856" y="0"/>
                </a:lnTo>
                <a:lnTo>
                  <a:pt x="2546856" y="3666939"/>
                </a:lnTo>
                <a:lnTo>
                  <a:pt x="0" y="36669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7409835" y="3781026"/>
            <a:ext cx="0" cy="2650272"/>
          </a:xfrm>
          <a:prstGeom prst="line">
            <a:avLst/>
          </a:prstGeom>
          <a:ln cap="flat" w="38100">
            <a:solidFill>
              <a:srgbClr val="11B286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4166295" y="2473797"/>
            <a:ext cx="965124" cy="965124"/>
          </a:xfrm>
          <a:custGeom>
            <a:avLst/>
            <a:gdLst/>
            <a:ahLst/>
            <a:cxnLst/>
            <a:rect r="r" b="b" t="t" l="l"/>
            <a:pathLst>
              <a:path h="965124" w="965124">
                <a:moveTo>
                  <a:pt x="0" y="0"/>
                </a:moveTo>
                <a:lnTo>
                  <a:pt x="965124" y="0"/>
                </a:lnTo>
                <a:lnTo>
                  <a:pt x="965124" y="965124"/>
                </a:lnTo>
                <a:lnTo>
                  <a:pt x="0" y="9651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634923" y="2508626"/>
            <a:ext cx="965124" cy="965124"/>
          </a:xfrm>
          <a:custGeom>
            <a:avLst/>
            <a:gdLst/>
            <a:ahLst/>
            <a:cxnLst/>
            <a:rect r="r" b="b" t="t" l="l"/>
            <a:pathLst>
              <a:path h="965124" w="965124">
                <a:moveTo>
                  <a:pt x="0" y="0"/>
                </a:moveTo>
                <a:lnTo>
                  <a:pt x="965124" y="0"/>
                </a:lnTo>
                <a:lnTo>
                  <a:pt x="965124" y="965124"/>
                </a:lnTo>
                <a:lnTo>
                  <a:pt x="0" y="9651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269592" y="724399"/>
            <a:ext cx="10218388" cy="178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2"/>
              </a:lnSpc>
            </a:pPr>
            <a:r>
              <a:rPr lang="en-US" sz="6842" spc="684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Implementasi UART pada STM32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80398" y="6860159"/>
            <a:ext cx="10907581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200">
                <a:solidFill>
                  <a:srgbClr val="21354D"/>
                </a:solidFill>
                <a:latin typeface="Canva Sans"/>
                <a:ea typeface="Canva Sans"/>
                <a:cs typeface="Canva Sans"/>
                <a:sym typeface="Canva Sans"/>
              </a:rPr>
              <a:t>Mikrokontroler STM32 biasanya memiliki beberapa modul USART (Universal Synchronous/Asynchronous Receiver Transmitter).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13549" y="3756250"/>
            <a:ext cx="5270617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800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Contoh pada beberapa seri STM32: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82700" y="3828651"/>
            <a:ext cx="3752119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800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Karakteristik utama: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82036" y="4541745"/>
            <a:ext cx="3062262" cy="1012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USART1</a:t>
            </a: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USART2</a:t>
            </a: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USART3</a:t>
            </a:r>
          </a:p>
          <a:p>
            <a:pPr algn="just">
              <a:lnSpc>
                <a:spcPts val="200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8182700" y="4323334"/>
            <a:ext cx="4004182" cy="225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Pin UART menggunakan fixed alternate function</a:t>
            </a: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Tidak sebebas ESP32 dalam pemetaan pin</a:t>
            </a:r>
          </a:p>
          <a:p>
            <a:pPr algn="just" marL="431805" indent="-215903" lvl="1">
              <a:lnSpc>
                <a:spcPts val="2000"/>
              </a:lnSpc>
              <a:buFont typeface="Arial"/>
              <a:buChar char="•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Mendukung fitur:</a:t>
            </a:r>
          </a:p>
          <a:p>
            <a:pPr algn="l" marL="431805" indent="-215903" lvl="1">
              <a:lnSpc>
                <a:spcPts val="2000"/>
              </a:lnSpc>
              <a:buAutoNum type="arabicPeriod" startAt="1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interrupt</a:t>
            </a:r>
          </a:p>
          <a:p>
            <a:pPr algn="l" marL="431805" indent="-215903" lvl="1">
              <a:lnSpc>
                <a:spcPts val="2000"/>
              </a:lnSpc>
              <a:buAutoNum type="arabicPeriod" startAt="1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 DMA</a:t>
            </a:r>
          </a:p>
          <a:p>
            <a:pPr algn="l" marL="431805" indent="-215903" lvl="1">
              <a:lnSpc>
                <a:spcPts val="2000"/>
              </a:lnSpc>
              <a:buAutoNum type="arabicPeriod" startAt="1"/>
            </a:pPr>
            <a:r>
              <a:rPr lang="en-US" sz="20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 hardware flow control</a:t>
            </a:r>
          </a:p>
          <a:p>
            <a:pPr algn="just">
              <a:lnSpc>
                <a:spcPts val="2000"/>
              </a:lnSpc>
            </a:pP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2682036" y="7699512"/>
            <a:ext cx="2991464" cy="1381513"/>
          </a:xfrm>
          <a:custGeom>
            <a:avLst/>
            <a:gdLst/>
            <a:ahLst/>
            <a:cxnLst/>
            <a:rect r="r" b="b" t="t" l="l"/>
            <a:pathLst>
              <a:path h="1381513" w="2991464">
                <a:moveTo>
                  <a:pt x="0" y="0"/>
                </a:moveTo>
                <a:lnTo>
                  <a:pt x="2991464" y="0"/>
                </a:lnTo>
                <a:lnTo>
                  <a:pt x="2991464" y="1381512"/>
                </a:lnTo>
                <a:lnTo>
                  <a:pt x="0" y="138151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78120" y="6489517"/>
            <a:ext cx="21842202" cy="4606719"/>
          </a:xfrm>
          <a:custGeom>
            <a:avLst/>
            <a:gdLst/>
            <a:ahLst/>
            <a:cxnLst/>
            <a:rect r="r" b="b" t="t" l="l"/>
            <a:pathLst>
              <a:path h="4606719" w="21842202">
                <a:moveTo>
                  <a:pt x="0" y="0"/>
                </a:moveTo>
                <a:lnTo>
                  <a:pt x="21842201" y="0"/>
                </a:lnTo>
                <a:lnTo>
                  <a:pt x="21842201" y="4606719"/>
                </a:lnTo>
                <a:lnTo>
                  <a:pt x="0" y="4606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4531" y="-156775"/>
            <a:ext cx="5525519" cy="2370950"/>
          </a:xfrm>
          <a:custGeom>
            <a:avLst/>
            <a:gdLst/>
            <a:ahLst/>
            <a:cxnLst/>
            <a:rect r="r" b="b" t="t" l="l"/>
            <a:pathLst>
              <a:path h="2370950" w="5525519">
                <a:moveTo>
                  <a:pt x="0" y="0"/>
                </a:moveTo>
                <a:lnTo>
                  <a:pt x="5525520" y="0"/>
                </a:lnTo>
                <a:lnTo>
                  <a:pt x="5525520" y="2370950"/>
                </a:lnTo>
                <a:lnTo>
                  <a:pt x="0" y="237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94053" y="685531"/>
            <a:ext cx="5442740" cy="7919331"/>
          </a:xfrm>
          <a:custGeom>
            <a:avLst/>
            <a:gdLst/>
            <a:ahLst/>
            <a:cxnLst/>
            <a:rect r="r" b="b" t="t" l="l"/>
            <a:pathLst>
              <a:path h="7919331" w="5442740">
                <a:moveTo>
                  <a:pt x="0" y="0"/>
                </a:moveTo>
                <a:lnTo>
                  <a:pt x="5442741" y="0"/>
                </a:lnTo>
                <a:lnTo>
                  <a:pt x="5442741" y="7919332"/>
                </a:lnTo>
                <a:lnTo>
                  <a:pt x="0" y="79193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734060" y="298623"/>
            <a:ext cx="5525519" cy="2370950"/>
          </a:xfrm>
          <a:custGeom>
            <a:avLst/>
            <a:gdLst/>
            <a:ahLst/>
            <a:cxnLst/>
            <a:rect r="r" b="b" t="t" l="l"/>
            <a:pathLst>
              <a:path h="2370950" w="5525519">
                <a:moveTo>
                  <a:pt x="0" y="0"/>
                </a:moveTo>
                <a:lnTo>
                  <a:pt x="5525520" y="0"/>
                </a:lnTo>
                <a:lnTo>
                  <a:pt x="5525520" y="2370950"/>
                </a:lnTo>
                <a:lnTo>
                  <a:pt x="0" y="237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853679" y="298623"/>
            <a:ext cx="4935685" cy="7181553"/>
          </a:xfrm>
          <a:custGeom>
            <a:avLst/>
            <a:gdLst/>
            <a:ahLst/>
            <a:cxnLst/>
            <a:rect r="r" b="b" t="t" l="l"/>
            <a:pathLst>
              <a:path h="7181553" w="4935685">
                <a:moveTo>
                  <a:pt x="0" y="0"/>
                </a:moveTo>
                <a:lnTo>
                  <a:pt x="4935685" y="0"/>
                </a:lnTo>
                <a:lnTo>
                  <a:pt x="4935685" y="7181553"/>
                </a:lnTo>
                <a:lnTo>
                  <a:pt x="0" y="71815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4854498" y="3234713"/>
            <a:ext cx="5555907" cy="2625402"/>
            <a:chOff x="0" y="0"/>
            <a:chExt cx="1463284" cy="6914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63284" cy="691464"/>
            </a:xfrm>
            <a:custGeom>
              <a:avLst/>
              <a:gdLst/>
              <a:ahLst/>
              <a:cxnLst/>
              <a:rect r="r" b="b" t="t" l="l"/>
              <a:pathLst>
                <a:path h="691464" w="1463284">
                  <a:moveTo>
                    <a:pt x="54345" y="0"/>
                  </a:moveTo>
                  <a:lnTo>
                    <a:pt x="1408939" y="0"/>
                  </a:lnTo>
                  <a:cubicBezTo>
                    <a:pt x="1438953" y="0"/>
                    <a:pt x="1463284" y="24331"/>
                    <a:pt x="1463284" y="54345"/>
                  </a:cubicBezTo>
                  <a:lnTo>
                    <a:pt x="1463284" y="637119"/>
                  </a:lnTo>
                  <a:cubicBezTo>
                    <a:pt x="1463284" y="667133"/>
                    <a:pt x="1438953" y="691464"/>
                    <a:pt x="1408939" y="691464"/>
                  </a:cubicBezTo>
                  <a:lnTo>
                    <a:pt x="54345" y="691464"/>
                  </a:lnTo>
                  <a:cubicBezTo>
                    <a:pt x="24331" y="691464"/>
                    <a:pt x="0" y="667133"/>
                    <a:pt x="0" y="637119"/>
                  </a:cubicBezTo>
                  <a:lnTo>
                    <a:pt x="0" y="54345"/>
                  </a:lnTo>
                  <a:cubicBezTo>
                    <a:pt x="0" y="24331"/>
                    <a:pt x="24331" y="0"/>
                    <a:pt x="543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463284" cy="729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54498" y="6167475"/>
            <a:ext cx="5555907" cy="2625402"/>
            <a:chOff x="0" y="0"/>
            <a:chExt cx="1463284" cy="6914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3284" cy="691464"/>
            </a:xfrm>
            <a:custGeom>
              <a:avLst/>
              <a:gdLst/>
              <a:ahLst/>
              <a:cxnLst/>
              <a:rect r="r" b="b" t="t" l="l"/>
              <a:pathLst>
                <a:path h="691464" w="1463284">
                  <a:moveTo>
                    <a:pt x="54345" y="0"/>
                  </a:moveTo>
                  <a:lnTo>
                    <a:pt x="1408939" y="0"/>
                  </a:lnTo>
                  <a:cubicBezTo>
                    <a:pt x="1438953" y="0"/>
                    <a:pt x="1463284" y="24331"/>
                    <a:pt x="1463284" y="54345"/>
                  </a:cubicBezTo>
                  <a:lnTo>
                    <a:pt x="1463284" y="637119"/>
                  </a:lnTo>
                  <a:cubicBezTo>
                    <a:pt x="1463284" y="667133"/>
                    <a:pt x="1438953" y="691464"/>
                    <a:pt x="1408939" y="691464"/>
                  </a:cubicBezTo>
                  <a:lnTo>
                    <a:pt x="54345" y="691464"/>
                  </a:lnTo>
                  <a:cubicBezTo>
                    <a:pt x="24331" y="691464"/>
                    <a:pt x="0" y="667133"/>
                    <a:pt x="0" y="637119"/>
                  </a:cubicBezTo>
                  <a:lnTo>
                    <a:pt x="0" y="54345"/>
                  </a:lnTo>
                  <a:cubicBezTo>
                    <a:pt x="0" y="24331"/>
                    <a:pt x="24331" y="0"/>
                    <a:pt x="543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63284" cy="729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01174" y="3234713"/>
            <a:ext cx="5555907" cy="2625402"/>
            <a:chOff x="0" y="0"/>
            <a:chExt cx="1463284" cy="6914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3284" cy="691464"/>
            </a:xfrm>
            <a:custGeom>
              <a:avLst/>
              <a:gdLst/>
              <a:ahLst/>
              <a:cxnLst/>
              <a:rect r="r" b="b" t="t" l="l"/>
              <a:pathLst>
                <a:path h="691464" w="1463284">
                  <a:moveTo>
                    <a:pt x="54345" y="0"/>
                  </a:moveTo>
                  <a:lnTo>
                    <a:pt x="1408939" y="0"/>
                  </a:lnTo>
                  <a:cubicBezTo>
                    <a:pt x="1438953" y="0"/>
                    <a:pt x="1463284" y="24331"/>
                    <a:pt x="1463284" y="54345"/>
                  </a:cubicBezTo>
                  <a:lnTo>
                    <a:pt x="1463284" y="637119"/>
                  </a:lnTo>
                  <a:cubicBezTo>
                    <a:pt x="1463284" y="667133"/>
                    <a:pt x="1438953" y="691464"/>
                    <a:pt x="1408939" y="691464"/>
                  </a:cubicBezTo>
                  <a:lnTo>
                    <a:pt x="54345" y="691464"/>
                  </a:lnTo>
                  <a:cubicBezTo>
                    <a:pt x="24331" y="691464"/>
                    <a:pt x="0" y="667133"/>
                    <a:pt x="0" y="637119"/>
                  </a:cubicBezTo>
                  <a:lnTo>
                    <a:pt x="0" y="54345"/>
                  </a:lnTo>
                  <a:cubicBezTo>
                    <a:pt x="0" y="24331"/>
                    <a:pt x="24331" y="0"/>
                    <a:pt x="543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463284" cy="729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01174" y="6167475"/>
            <a:ext cx="5555907" cy="2625402"/>
            <a:chOff x="0" y="0"/>
            <a:chExt cx="1463284" cy="6914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284" cy="691464"/>
            </a:xfrm>
            <a:custGeom>
              <a:avLst/>
              <a:gdLst/>
              <a:ahLst/>
              <a:cxnLst/>
              <a:rect r="r" b="b" t="t" l="l"/>
              <a:pathLst>
                <a:path h="691464" w="1463284">
                  <a:moveTo>
                    <a:pt x="54345" y="0"/>
                  </a:moveTo>
                  <a:lnTo>
                    <a:pt x="1408939" y="0"/>
                  </a:lnTo>
                  <a:cubicBezTo>
                    <a:pt x="1438953" y="0"/>
                    <a:pt x="1463284" y="24331"/>
                    <a:pt x="1463284" y="54345"/>
                  </a:cubicBezTo>
                  <a:lnTo>
                    <a:pt x="1463284" y="637119"/>
                  </a:lnTo>
                  <a:cubicBezTo>
                    <a:pt x="1463284" y="667133"/>
                    <a:pt x="1438953" y="691464"/>
                    <a:pt x="1408939" y="691464"/>
                  </a:cubicBezTo>
                  <a:lnTo>
                    <a:pt x="54345" y="691464"/>
                  </a:lnTo>
                  <a:cubicBezTo>
                    <a:pt x="24331" y="691464"/>
                    <a:pt x="0" y="667133"/>
                    <a:pt x="0" y="637119"/>
                  </a:cubicBezTo>
                  <a:lnTo>
                    <a:pt x="0" y="54345"/>
                  </a:lnTo>
                  <a:cubicBezTo>
                    <a:pt x="0" y="24331"/>
                    <a:pt x="24331" y="0"/>
                    <a:pt x="543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463284" cy="729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true" flipV="false" rot="0">
            <a:off x="13579127" y="8474089"/>
            <a:ext cx="4090595" cy="1889111"/>
          </a:xfrm>
          <a:custGeom>
            <a:avLst/>
            <a:gdLst/>
            <a:ahLst/>
            <a:cxnLst/>
            <a:rect r="r" b="b" t="t" l="l"/>
            <a:pathLst>
              <a:path h="1889111" w="4090595">
                <a:moveTo>
                  <a:pt x="4090595" y="0"/>
                </a:moveTo>
                <a:lnTo>
                  <a:pt x="0" y="0"/>
                </a:lnTo>
                <a:lnTo>
                  <a:pt x="0" y="1889111"/>
                </a:lnTo>
                <a:lnTo>
                  <a:pt x="4090595" y="1889111"/>
                </a:lnTo>
                <a:lnTo>
                  <a:pt x="409059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152048" y="3830814"/>
            <a:ext cx="1385753" cy="1312686"/>
          </a:xfrm>
          <a:custGeom>
            <a:avLst/>
            <a:gdLst/>
            <a:ahLst/>
            <a:cxnLst/>
            <a:rect r="r" b="b" t="t" l="l"/>
            <a:pathLst>
              <a:path h="1312686" w="1385753">
                <a:moveTo>
                  <a:pt x="0" y="0"/>
                </a:moveTo>
                <a:lnTo>
                  <a:pt x="1385753" y="0"/>
                </a:lnTo>
                <a:lnTo>
                  <a:pt x="1385753" y="1312686"/>
                </a:lnTo>
                <a:lnTo>
                  <a:pt x="0" y="13126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191026" y="3662561"/>
            <a:ext cx="1331347" cy="1649191"/>
          </a:xfrm>
          <a:custGeom>
            <a:avLst/>
            <a:gdLst/>
            <a:ahLst/>
            <a:cxnLst/>
            <a:rect r="r" b="b" t="t" l="l"/>
            <a:pathLst>
              <a:path h="1649191" w="1331347">
                <a:moveTo>
                  <a:pt x="0" y="0"/>
                </a:moveTo>
                <a:lnTo>
                  <a:pt x="1331347" y="0"/>
                </a:lnTo>
                <a:lnTo>
                  <a:pt x="1331347" y="1649192"/>
                </a:lnTo>
                <a:lnTo>
                  <a:pt x="0" y="1649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198633" y="6526105"/>
            <a:ext cx="1339168" cy="1908141"/>
          </a:xfrm>
          <a:custGeom>
            <a:avLst/>
            <a:gdLst/>
            <a:ahLst/>
            <a:cxnLst/>
            <a:rect r="r" b="b" t="t" l="l"/>
            <a:pathLst>
              <a:path h="1908141" w="1339168">
                <a:moveTo>
                  <a:pt x="0" y="0"/>
                </a:moveTo>
                <a:lnTo>
                  <a:pt x="1339168" y="0"/>
                </a:lnTo>
                <a:lnTo>
                  <a:pt x="1339168" y="1908141"/>
                </a:lnTo>
                <a:lnTo>
                  <a:pt x="0" y="19081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098448" y="6642120"/>
            <a:ext cx="1423926" cy="1792126"/>
          </a:xfrm>
          <a:custGeom>
            <a:avLst/>
            <a:gdLst/>
            <a:ahLst/>
            <a:cxnLst/>
            <a:rect r="r" b="b" t="t" l="l"/>
            <a:pathLst>
              <a:path h="1792126" w="1423926">
                <a:moveTo>
                  <a:pt x="0" y="0"/>
                </a:moveTo>
                <a:lnTo>
                  <a:pt x="1423925" y="0"/>
                </a:lnTo>
                <a:lnTo>
                  <a:pt x="1423925" y="1792126"/>
                </a:lnTo>
                <a:lnTo>
                  <a:pt x="0" y="17921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933787" y="1143000"/>
            <a:ext cx="10218388" cy="1784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2"/>
              </a:lnSpc>
            </a:pPr>
            <a:r>
              <a:rPr lang="en-US" sz="6842" spc="684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Pengolahan Data pada Komunikasi UART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59957" y="3268637"/>
            <a:ext cx="3068266" cy="2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>
                <a:solidFill>
                  <a:srgbClr val="304D6F"/>
                </a:solidFill>
                <a:latin typeface="Canva Sans"/>
                <a:ea typeface="Canva Sans"/>
                <a:cs typeface="Canva Sans"/>
                <a:sym typeface="Canva Sans"/>
              </a:rPr>
              <a:t>Transportasi listrik memberikan berbagai keuntungan, seperti: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33076" y="3604330"/>
            <a:ext cx="330668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800" b="true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Ring Buffer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33076" y="6613431"/>
            <a:ext cx="3720448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800" b="true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CRC (Cyclic Redundancy Check)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67439" y="3604330"/>
            <a:ext cx="330668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800" b="true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Framing Data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67439" y="6616775"/>
            <a:ext cx="330668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800" b="true">
                <a:solidFill>
                  <a:srgbClr val="0A8B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Timeout Parsing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37801" y="4448005"/>
            <a:ext cx="3306680" cy="144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Digunakan untuk menyimpan data yang masuk secara terus menerus tanpa kehilangan data.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33076" y="7457106"/>
            <a:ext cx="3306680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Digunakan untuk mendeteksi kesalahan pada data.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646198" y="4344902"/>
            <a:ext cx="3589642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Menentukan format paket data agar dapat diproses dengan benar.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04412" y="7058056"/>
            <a:ext cx="3589642" cy="173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sz="2300">
                <a:solidFill>
                  <a:srgbClr val="0A8B66"/>
                </a:solidFill>
                <a:latin typeface="Canva Sans"/>
                <a:ea typeface="Canva Sans"/>
                <a:cs typeface="Canva Sans"/>
                <a:sym typeface="Canva Sans"/>
              </a:rPr>
              <a:t>Digunakan untuk menghindari sistem menunggu data terlalu lama jika terjadi gangguan komunikasi.</a:t>
            </a:r>
          </a:p>
          <a:p>
            <a:pPr algn="l">
              <a:lnSpc>
                <a:spcPts val="2300"/>
              </a:lnSpc>
            </a:pPr>
          </a:p>
        </p:txBody>
      </p:sp>
      <p:sp>
        <p:nvSpPr>
          <p:cNvPr name="Freeform 34" id="34"/>
          <p:cNvSpPr/>
          <p:nvPr/>
        </p:nvSpPr>
        <p:spPr>
          <a:xfrm flipH="true" flipV="false" rot="0">
            <a:off x="-1374877" y="6770011"/>
            <a:ext cx="6913766" cy="3255755"/>
          </a:xfrm>
          <a:custGeom>
            <a:avLst/>
            <a:gdLst/>
            <a:ahLst/>
            <a:cxnLst/>
            <a:rect r="r" b="b" t="t" l="l"/>
            <a:pathLst>
              <a:path h="3255755" w="6913766">
                <a:moveTo>
                  <a:pt x="6913766" y="0"/>
                </a:moveTo>
                <a:lnTo>
                  <a:pt x="0" y="0"/>
                </a:lnTo>
                <a:lnTo>
                  <a:pt x="0" y="3255756"/>
                </a:lnTo>
                <a:lnTo>
                  <a:pt x="6913766" y="3255756"/>
                </a:lnTo>
                <a:lnTo>
                  <a:pt x="6913766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4130988" y="-980236"/>
            <a:ext cx="2042121" cy="2008936"/>
          </a:xfrm>
          <a:custGeom>
            <a:avLst/>
            <a:gdLst/>
            <a:ahLst/>
            <a:cxnLst/>
            <a:rect r="r" b="b" t="t" l="l"/>
            <a:pathLst>
              <a:path h="2008936" w="2042121">
                <a:moveTo>
                  <a:pt x="0" y="0"/>
                </a:moveTo>
                <a:lnTo>
                  <a:pt x="2042121" y="0"/>
                </a:lnTo>
                <a:lnTo>
                  <a:pt x="2042121" y="2008936"/>
                </a:lnTo>
                <a:lnTo>
                  <a:pt x="0" y="200893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552089" y="8756944"/>
            <a:ext cx="23188977" cy="6118483"/>
            <a:chOff x="0" y="0"/>
            <a:chExt cx="6107385" cy="16114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7385" cy="1611452"/>
            </a:xfrm>
            <a:custGeom>
              <a:avLst/>
              <a:gdLst/>
              <a:ahLst/>
              <a:cxnLst/>
              <a:rect r="r" b="b" t="t" l="l"/>
              <a:pathLst>
                <a:path h="1611452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1611452"/>
                  </a:lnTo>
                  <a:lnTo>
                    <a:pt x="0" y="1611452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107385" cy="1649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129649" y="1200182"/>
            <a:ext cx="3712711" cy="1593091"/>
          </a:xfrm>
          <a:custGeom>
            <a:avLst/>
            <a:gdLst/>
            <a:ahLst/>
            <a:cxnLst/>
            <a:rect r="r" b="b" t="t" l="l"/>
            <a:pathLst>
              <a:path h="1593091" w="3712711">
                <a:moveTo>
                  <a:pt x="0" y="0"/>
                </a:moveTo>
                <a:lnTo>
                  <a:pt x="3712711" y="0"/>
                </a:lnTo>
                <a:lnTo>
                  <a:pt x="3712711" y="1593091"/>
                </a:lnTo>
                <a:lnTo>
                  <a:pt x="0" y="1593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4955" y="451233"/>
            <a:ext cx="3632010" cy="5284671"/>
          </a:xfrm>
          <a:custGeom>
            <a:avLst/>
            <a:gdLst/>
            <a:ahLst/>
            <a:cxnLst/>
            <a:rect r="r" b="b" t="t" l="l"/>
            <a:pathLst>
              <a:path h="5284671" w="3632010">
                <a:moveTo>
                  <a:pt x="0" y="0"/>
                </a:moveTo>
                <a:lnTo>
                  <a:pt x="3632011" y="0"/>
                </a:lnTo>
                <a:lnTo>
                  <a:pt x="3632011" y="5284672"/>
                </a:lnTo>
                <a:lnTo>
                  <a:pt x="0" y="5284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169205" y="2793273"/>
            <a:ext cx="14395810" cy="6465027"/>
          </a:xfrm>
          <a:custGeom>
            <a:avLst/>
            <a:gdLst/>
            <a:ahLst/>
            <a:cxnLst/>
            <a:rect r="r" b="b" t="t" l="l"/>
            <a:pathLst>
              <a:path h="6465027" w="14395810">
                <a:moveTo>
                  <a:pt x="0" y="0"/>
                </a:moveTo>
                <a:lnTo>
                  <a:pt x="14395810" y="0"/>
                </a:lnTo>
                <a:lnTo>
                  <a:pt x="14395810" y="6465027"/>
                </a:lnTo>
                <a:lnTo>
                  <a:pt x="0" y="64650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26605" y="2232471"/>
            <a:ext cx="7943419" cy="92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2"/>
              </a:lnSpc>
            </a:pPr>
            <a:r>
              <a:rPr lang="en-US" sz="6842" spc="684">
                <a:solidFill>
                  <a:srgbClr val="21354D"/>
                </a:solidFill>
                <a:latin typeface="Bobby Jones"/>
                <a:ea typeface="Bobby Jones"/>
                <a:cs typeface="Bobby Jones"/>
                <a:sym typeface="Bobby Jones"/>
              </a:rPr>
              <a:t>Kesimpulan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1497" y="3273061"/>
            <a:ext cx="7218573" cy="54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Dari praktikum ini dapat disimpulkan bahwa komunikasi UART merupakan metode komunikasi serial yang sederhana namun sangat penting dalam sistem embedded.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Perbandingan utama:</a:t>
            </a:r>
          </a:p>
          <a:p>
            <a:pPr algn="just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ESP32 memiliki pin UART yang fleksibel karena dapat di-remap ke berbagai GPIO.</a:t>
            </a:r>
          </a:p>
          <a:p>
            <a:pPr algn="just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STM32 menggunakan sistem alternate function yang lebih tetap namun stabil untuk aplikasi industri.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Kesulitan yang ditemukan:</a:t>
            </a:r>
          </a:p>
          <a:p>
            <a:pPr algn="just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konfigurasi baud rate yang tidak sesuai</a:t>
            </a:r>
          </a:p>
          <a:p>
            <a:pPr algn="just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kesalahan pengaturan frame UART</a:t>
            </a:r>
          </a:p>
          <a:p>
            <a:pPr algn="just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parsing data yang tidak stabil</a:t>
            </a:r>
          </a:p>
          <a:p>
            <a:pPr algn="just">
              <a:lnSpc>
                <a:spcPts val="2400"/>
              </a:lnSpc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Solusi yang dilakukan:</a:t>
            </a:r>
          </a:p>
          <a:p>
            <a:pPr algn="just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memastikan konfigurasi UART sama pada kedua perangkat</a:t>
            </a:r>
          </a:p>
          <a:p>
            <a:pPr algn="just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menggunakan interrupt atau DMA untuk efisiensi</a:t>
            </a:r>
          </a:p>
          <a:p>
            <a:pPr algn="just" marL="431805" indent="-215903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24D62"/>
                </a:solidFill>
                <a:latin typeface="Canva Sans"/>
                <a:ea typeface="Canva Sans"/>
                <a:cs typeface="Canva Sans"/>
                <a:sym typeface="Canva Sans"/>
              </a:rPr>
              <a:t>menerapkan ring buffer dan framing data yang jelas.</a:t>
            </a:r>
          </a:p>
          <a:p>
            <a:pPr algn="just">
              <a:lnSpc>
                <a:spcPts val="240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790070" y="-126637"/>
            <a:ext cx="3306039" cy="4603346"/>
          </a:xfrm>
          <a:custGeom>
            <a:avLst/>
            <a:gdLst/>
            <a:ahLst/>
            <a:cxnLst/>
            <a:rect r="r" b="b" t="t" l="l"/>
            <a:pathLst>
              <a:path h="4603346" w="3306039">
                <a:moveTo>
                  <a:pt x="0" y="0"/>
                </a:moveTo>
                <a:lnTo>
                  <a:pt x="3306039" y="0"/>
                </a:lnTo>
                <a:lnTo>
                  <a:pt x="3306039" y="4603346"/>
                </a:lnTo>
                <a:lnTo>
                  <a:pt x="0" y="46033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519223" y="-936304"/>
            <a:ext cx="2688589" cy="2644899"/>
          </a:xfrm>
          <a:custGeom>
            <a:avLst/>
            <a:gdLst/>
            <a:ahLst/>
            <a:cxnLst/>
            <a:rect r="r" b="b" t="t" l="l"/>
            <a:pathLst>
              <a:path h="2644899" w="2688589">
                <a:moveTo>
                  <a:pt x="0" y="0"/>
                </a:moveTo>
                <a:lnTo>
                  <a:pt x="2688589" y="0"/>
                </a:lnTo>
                <a:lnTo>
                  <a:pt x="2688589" y="2644900"/>
                </a:lnTo>
                <a:lnTo>
                  <a:pt x="0" y="2644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856363" y="115505"/>
            <a:ext cx="3712711" cy="1593091"/>
          </a:xfrm>
          <a:custGeom>
            <a:avLst/>
            <a:gdLst/>
            <a:ahLst/>
            <a:cxnLst/>
            <a:rect r="r" b="b" t="t" l="l"/>
            <a:pathLst>
              <a:path h="1593091" w="3712711">
                <a:moveTo>
                  <a:pt x="0" y="0"/>
                </a:moveTo>
                <a:lnTo>
                  <a:pt x="3712712" y="0"/>
                </a:lnTo>
                <a:lnTo>
                  <a:pt x="3712712" y="1593091"/>
                </a:lnTo>
                <a:lnTo>
                  <a:pt x="0" y="1593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7679172" y="4669524"/>
            <a:ext cx="3712711" cy="1593091"/>
          </a:xfrm>
          <a:custGeom>
            <a:avLst/>
            <a:gdLst/>
            <a:ahLst/>
            <a:cxnLst/>
            <a:rect r="r" b="b" t="t" l="l"/>
            <a:pathLst>
              <a:path h="1593091" w="3712711">
                <a:moveTo>
                  <a:pt x="0" y="0"/>
                </a:moveTo>
                <a:lnTo>
                  <a:pt x="3712712" y="0"/>
                </a:lnTo>
                <a:lnTo>
                  <a:pt x="3712712" y="1593091"/>
                </a:lnTo>
                <a:lnTo>
                  <a:pt x="0" y="15930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897518" y="8352438"/>
            <a:ext cx="3608858" cy="1699444"/>
          </a:xfrm>
          <a:custGeom>
            <a:avLst/>
            <a:gdLst/>
            <a:ahLst/>
            <a:cxnLst/>
            <a:rect r="r" b="b" t="t" l="l"/>
            <a:pathLst>
              <a:path h="1699444" w="3608858">
                <a:moveTo>
                  <a:pt x="0" y="0"/>
                </a:moveTo>
                <a:lnTo>
                  <a:pt x="3608858" y="0"/>
                </a:lnTo>
                <a:lnTo>
                  <a:pt x="3608858" y="1699445"/>
                </a:lnTo>
                <a:lnTo>
                  <a:pt x="0" y="16994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898597" y="8414249"/>
            <a:ext cx="2972158" cy="1372597"/>
          </a:xfrm>
          <a:custGeom>
            <a:avLst/>
            <a:gdLst/>
            <a:ahLst/>
            <a:cxnLst/>
            <a:rect r="r" b="b" t="t" l="l"/>
            <a:pathLst>
              <a:path h="1372597" w="2972158">
                <a:moveTo>
                  <a:pt x="0" y="0"/>
                </a:moveTo>
                <a:lnTo>
                  <a:pt x="2972157" y="0"/>
                </a:lnTo>
                <a:lnTo>
                  <a:pt x="2972157" y="1372596"/>
                </a:lnTo>
                <a:lnTo>
                  <a:pt x="0" y="13725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1747808" y="6835247"/>
            <a:ext cx="4877457" cy="4114800"/>
          </a:xfrm>
          <a:custGeom>
            <a:avLst/>
            <a:gdLst/>
            <a:ahLst/>
            <a:cxnLst/>
            <a:rect r="r" b="b" t="t" l="l"/>
            <a:pathLst>
              <a:path h="4114800" w="4877457">
                <a:moveTo>
                  <a:pt x="0" y="0"/>
                </a:moveTo>
                <a:lnTo>
                  <a:pt x="4877457" y="0"/>
                </a:lnTo>
                <a:lnTo>
                  <a:pt x="48774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57117" y="690271"/>
            <a:ext cx="3994290" cy="1713914"/>
          </a:xfrm>
          <a:custGeom>
            <a:avLst/>
            <a:gdLst/>
            <a:ahLst/>
            <a:cxnLst/>
            <a:rect r="r" b="b" t="t" l="l"/>
            <a:pathLst>
              <a:path h="1713914" w="3994290">
                <a:moveTo>
                  <a:pt x="0" y="0"/>
                </a:moveTo>
                <a:lnTo>
                  <a:pt x="3994290" y="0"/>
                </a:lnTo>
                <a:lnTo>
                  <a:pt x="3994290" y="1713914"/>
                </a:lnTo>
                <a:lnTo>
                  <a:pt x="0" y="17139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09728" y="1891542"/>
            <a:ext cx="6206283" cy="210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0"/>
              </a:lnSpc>
            </a:pPr>
            <a:r>
              <a:rPr lang="en-US" sz="13420" spc="1556">
                <a:solidFill>
                  <a:srgbClr val="024D62"/>
                </a:solidFill>
                <a:latin typeface="Bobby Jones"/>
                <a:ea typeface="Bobby Jones"/>
                <a:cs typeface="Bobby Jones"/>
                <a:sym typeface="Bobby Jones"/>
              </a:rPr>
              <a:t>Terima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61624" y="3479724"/>
            <a:ext cx="5102492" cy="201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20"/>
              </a:lnSpc>
            </a:pPr>
            <a:r>
              <a:rPr lang="en-US" sz="13420" spc="1556">
                <a:solidFill>
                  <a:srgbClr val="024D62"/>
                </a:solidFill>
                <a:latin typeface="Bobby Jones"/>
                <a:ea typeface="Bobby Jones"/>
                <a:cs typeface="Bobby Jones"/>
                <a:sym typeface="Bobby Jones"/>
              </a:rPr>
              <a:t>Kasih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552089" y="8756944"/>
            <a:ext cx="23188977" cy="6118483"/>
            <a:chOff x="0" y="0"/>
            <a:chExt cx="6107385" cy="16114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07385" cy="1611452"/>
            </a:xfrm>
            <a:custGeom>
              <a:avLst/>
              <a:gdLst/>
              <a:ahLst/>
              <a:cxnLst/>
              <a:rect r="r" b="b" t="t" l="l"/>
              <a:pathLst>
                <a:path h="1611452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1611452"/>
                  </a:lnTo>
                  <a:lnTo>
                    <a:pt x="0" y="1611452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107385" cy="1649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4025852" y="2404185"/>
            <a:ext cx="10744310" cy="7091245"/>
          </a:xfrm>
          <a:custGeom>
            <a:avLst/>
            <a:gdLst/>
            <a:ahLst/>
            <a:cxnLst/>
            <a:rect r="r" b="b" t="t" l="l"/>
            <a:pathLst>
              <a:path h="7091245" w="10744310">
                <a:moveTo>
                  <a:pt x="0" y="0"/>
                </a:moveTo>
                <a:lnTo>
                  <a:pt x="10744310" y="0"/>
                </a:lnTo>
                <a:lnTo>
                  <a:pt x="10744310" y="7091245"/>
                </a:lnTo>
                <a:lnTo>
                  <a:pt x="0" y="7091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64116" y="3935385"/>
            <a:ext cx="7942921" cy="5560045"/>
          </a:xfrm>
          <a:custGeom>
            <a:avLst/>
            <a:gdLst/>
            <a:ahLst/>
            <a:cxnLst/>
            <a:rect r="r" b="b" t="t" l="l"/>
            <a:pathLst>
              <a:path h="5560045" w="7942921">
                <a:moveTo>
                  <a:pt x="0" y="0"/>
                </a:moveTo>
                <a:lnTo>
                  <a:pt x="7942921" y="0"/>
                </a:lnTo>
                <a:lnTo>
                  <a:pt x="7942921" y="5560045"/>
                </a:lnTo>
                <a:lnTo>
                  <a:pt x="0" y="55600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76819" y="6715408"/>
            <a:ext cx="2974594" cy="3040942"/>
          </a:xfrm>
          <a:custGeom>
            <a:avLst/>
            <a:gdLst/>
            <a:ahLst/>
            <a:cxnLst/>
            <a:rect r="r" b="b" t="t" l="l"/>
            <a:pathLst>
              <a:path h="3040942" w="2974594">
                <a:moveTo>
                  <a:pt x="0" y="0"/>
                </a:moveTo>
                <a:lnTo>
                  <a:pt x="2974594" y="0"/>
                </a:lnTo>
                <a:lnTo>
                  <a:pt x="2974594" y="3040941"/>
                </a:lnTo>
                <a:lnTo>
                  <a:pt x="0" y="30409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4396703" y="7569864"/>
            <a:ext cx="2752103" cy="2166655"/>
          </a:xfrm>
          <a:custGeom>
            <a:avLst/>
            <a:gdLst/>
            <a:ahLst/>
            <a:cxnLst/>
            <a:rect r="r" b="b" t="t" l="l"/>
            <a:pathLst>
              <a:path h="2166655" w="2752103">
                <a:moveTo>
                  <a:pt x="2752102" y="0"/>
                </a:moveTo>
                <a:lnTo>
                  <a:pt x="0" y="0"/>
                </a:lnTo>
                <a:lnTo>
                  <a:pt x="0" y="2166655"/>
                </a:lnTo>
                <a:lnTo>
                  <a:pt x="2752102" y="2166655"/>
                </a:lnTo>
                <a:lnTo>
                  <a:pt x="275210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1909797" y="9897547"/>
            <a:ext cx="23188977" cy="2123276"/>
            <a:chOff x="0" y="0"/>
            <a:chExt cx="6107385" cy="55921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07385" cy="559217"/>
            </a:xfrm>
            <a:custGeom>
              <a:avLst/>
              <a:gdLst/>
              <a:ahLst/>
              <a:cxnLst/>
              <a:rect r="r" b="b" t="t" l="l"/>
              <a:pathLst>
                <a:path h="559217" w="6107385">
                  <a:moveTo>
                    <a:pt x="0" y="0"/>
                  </a:moveTo>
                  <a:lnTo>
                    <a:pt x="6107385" y="0"/>
                  </a:lnTo>
                  <a:lnTo>
                    <a:pt x="6107385" y="559217"/>
                  </a:lnTo>
                  <a:lnTo>
                    <a:pt x="0" y="559217"/>
                  </a:lnTo>
                  <a:close/>
                </a:path>
              </a:pathLst>
            </a:custGeom>
            <a:solidFill>
              <a:srgbClr val="44B7A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107385" cy="5973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45405" y="-1064400"/>
            <a:ext cx="2683517" cy="2639910"/>
          </a:xfrm>
          <a:custGeom>
            <a:avLst/>
            <a:gdLst/>
            <a:ahLst/>
            <a:cxnLst/>
            <a:rect r="r" b="b" t="t" l="l"/>
            <a:pathLst>
              <a:path h="2639910" w="2683517">
                <a:moveTo>
                  <a:pt x="0" y="0"/>
                </a:moveTo>
                <a:lnTo>
                  <a:pt x="2683517" y="0"/>
                </a:lnTo>
                <a:lnTo>
                  <a:pt x="2683517" y="2639910"/>
                </a:lnTo>
                <a:lnTo>
                  <a:pt x="0" y="26399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952852" y="-1479080"/>
            <a:ext cx="6752735" cy="5414466"/>
          </a:xfrm>
          <a:custGeom>
            <a:avLst/>
            <a:gdLst/>
            <a:ahLst/>
            <a:cxnLst/>
            <a:rect r="r" b="b" t="t" l="l"/>
            <a:pathLst>
              <a:path h="5414466" w="6752735">
                <a:moveTo>
                  <a:pt x="0" y="0"/>
                </a:moveTo>
                <a:lnTo>
                  <a:pt x="6752735" y="0"/>
                </a:lnTo>
                <a:lnTo>
                  <a:pt x="6752735" y="5414465"/>
                </a:lnTo>
                <a:lnTo>
                  <a:pt x="0" y="541446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8051407" y="5523431"/>
            <a:ext cx="547246" cy="54724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06991" y="4377324"/>
            <a:ext cx="547246" cy="54724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324332" y="2713403"/>
            <a:ext cx="547246" cy="54724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08832" y="954530"/>
            <a:ext cx="387434" cy="38743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952852" y="3147901"/>
            <a:ext cx="387434" cy="38743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0D5C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-1092425" y="7200900"/>
            <a:ext cx="4877457" cy="4114800"/>
          </a:xfrm>
          <a:custGeom>
            <a:avLst/>
            <a:gdLst/>
            <a:ahLst/>
            <a:cxnLst/>
            <a:rect r="r" b="b" t="t" l="l"/>
            <a:pathLst>
              <a:path h="4114800" w="4877457">
                <a:moveTo>
                  <a:pt x="0" y="0"/>
                </a:moveTo>
                <a:lnTo>
                  <a:pt x="4877457" y="0"/>
                </a:lnTo>
                <a:lnTo>
                  <a:pt x="48774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434001" y="7840147"/>
            <a:ext cx="4877457" cy="4114800"/>
          </a:xfrm>
          <a:custGeom>
            <a:avLst/>
            <a:gdLst/>
            <a:ahLst/>
            <a:cxnLst/>
            <a:rect r="r" b="b" t="t" l="l"/>
            <a:pathLst>
              <a:path h="4114800" w="4877457">
                <a:moveTo>
                  <a:pt x="0" y="0"/>
                </a:moveTo>
                <a:lnTo>
                  <a:pt x="4877457" y="0"/>
                </a:lnTo>
                <a:lnTo>
                  <a:pt x="48774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DAHD_al--xM</dc:identifier>
  <dcterms:modified xsi:type="dcterms:W3CDTF">2011-08-01T06:04:30Z</dcterms:modified>
  <cp:revision>1</cp:revision>
  <dc:title>014_TUGAS 3_HIDAYAH AFITA SARI_PRAK.SISTEM EMBEDDED</dc:title>
</cp:coreProperties>
</file>